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8" r:id="rId3"/>
    <p:sldId id="261" r:id="rId4"/>
    <p:sldId id="282" r:id="rId5"/>
    <p:sldId id="283" r:id="rId6"/>
    <p:sldId id="284" r:id="rId7"/>
    <p:sldId id="262" r:id="rId8"/>
    <p:sldId id="263" r:id="rId9"/>
    <p:sldId id="270" r:id="rId10"/>
    <p:sldId id="277" r:id="rId11"/>
    <p:sldId id="285" r:id="rId12"/>
    <p:sldId id="274" r:id="rId13"/>
    <p:sldId id="286" r:id="rId14"/>
    <p:sldId id="287" r:id="rId15"/>
    <p:sldId id="288" r:id="rId16"/>
    <p:sldId id="289" r:id="rId17"/>
    <p:sldId id="279" r:id="rId18"/>
    <p:sldId id="290" r:id="rId19"/>
    <p:sldId id="26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7FBFE4-3F96-4B9F-BACC-A49F6B2D1140}" v="24" dt="2025-11-03T04:46:25.7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ihara prasath" userId="417ba85f8c28101d" providerId="LiveId" clId="{10F3BFD4-019B-499D-9CD9-815B61CEF965}"/>
    <pc:docChg chg="custSel modSld">
      <pc:chgData name="haihara prasath" userId="417ba85f8c28101d" providerId="LiveId" clId="{10F3BFD4-019B-499D-9CD9-815B61CEF965}" dt="2025-11-03T04:46:35.936" v="69" actId="20577"/>
      <pc:docMkLst>
        <pc:docMk/>
      </pc:docMkLst>
      <pc:sldChg chg="addSp modSp mod">
        <pc:chgData name="haihara prasath" userId="417ba85f8c28101d" providerId="LiveId" clId="{10F3BFD4-019B-499D-9CD9-815B61CEF965}" dt="2025-11-03T04:30:49.795" v="11" actId="12"/>
        <pc:sldMkLst>
          <pc:docMk/>
          <pc:sldMk cId="251392508" sldId="262"/>
        </pc:sldMkLst>
        <pc:spChg chg="add mod">
          <ac:chgData name="haihara prasath" userId="417ba85f8c28101d" providerId="LiveId" clId="{10F3BFD4-019B-499D-9CD9-815B61CEF965}" dt="2025-11-03T04:30:49.795" v="11" actId="12"/>
          <ac:spMkLst>
            <pc:docMk/>
            <pc:sldMk cId="251392508" sldId="262"/>
            <ac:spMk id="2" creationId="{0271766C-6C4C-F7CA-7ABB-C4B39C9BA989}"/>
          </ac:spMkLst>
        </pc:spChg>
        <pc:spChg chg="mod">
          <ac:chgData name="haihara prasath" userId="417ba85f8c28101d" providerId="LiveId" clId="{10F3BFD4-019B-499D-9CD9-815B61CEF965}" dt="2025-11-03T04:29:46.802" v="0" actId="20577"/>
          <ac:spMkLst>
            <pc:docMk/>
            <pc:sldMk cId="251392508" sldId="262"/>
            <ac:spMk id="3" creationId="{2F50A419-3084-94F4-6287-ED1339204615}"/>
          </ac:spMkLst>
        </pc:spChg>
        <pc:picChg chg="mod">
          <ac:chgData name="haihara prasath" userId="417ba85f8c28101d" providerId="LiveId" clId="{10F3BFD4-019B-499D-9CD9-815B61CEF965}" dt="2025-11-03T04:29:56.425" v="3" actId="1076"/>
          <ac:picMkLst>
            <pc:docMk/>
            <pc:sldMk cId="251392508" sldId="262"/>
            <ac:picMk id="5" creationId="{30B3D2FB-78A6-D6EA-982C-7894917DF1EE}"/>
          </ac:picMkLst>
        </pc:picChg>
      </pc:sldChg>
      <pc:sldChg chg="addSp modSp mod">
        <pc:chgData name="haihara prasath" userId="417ba85f8c28101d" providerId="LiveId" clId="{10F3BFD4-019B-499D-9CD9-815B61CEF965}" dt="2025-11-03T04:40:02.643" v="26" actId="20577"/>
        <pc:sldMkLst>
          <pc:docMk/>
          <pc:sldMk cId="2789020246" sldId="277"/>
        </pc:sldMkLst>
        <pc:spChg chg="add mod">
          <ac:chgData name="haihara prasath" userId="417ba85f8c28101d" providerId="LiveId" clId="{10F3BFD4-019B-499D-9CD9-815B61CEF965}" dt="2025-11-03T04:40:02.643" v="26" actId="20577"/>
          <ac:spMkLst>
            <pc:docMk/>
            <pc:sldMk cId="2789020246" sldId="277"/>
            <ac:spMk id="2" creationId="{5F91FC9C-F536-7E9E-F903-CCE4EE7C4024}"/>
          </ac:spMkLst>
        </pc:spChg>
        <pc:spChg chg="mod">
          <ac:chgData name="haihara prasath" userId="417ba85f8c28101d" providerId="LiveId" clId="{10F3BFD4-019B-499D-9CD9-815B61CEF965}" dt="2025-11-03T04:36:56.742" v="12" actId="20577"/>
          <ac:spMkLst>
            <pc:docMk/>
            <pc:sldMk cId="2789020246" sldId="277"/>
            <ac:spMk id="5" creationId="{EAD6194E-88E6-9679-61D1-CBB4407AA351}"/>
          </ac:spMkLst>
        </pc:spChg>
      </pc:sldChg>
      <pc:sldChg chg="addSp delSp modSp mod">
        <pc:chgData name="haihara prasath" userId="417ba85f8c28101d" providerId="LiveId" clId="{10F3BFD4-019B-499D-9CD9-815B61CEF965}" dt="2025-11-03T04:46:35.936" v="69" actId="20577"/>
        <pc:sldMkLst>
          <pc:docMk/>
          <pc:sldMk cId="3284615124" sldId="279"/>
        </pc:sldMkLst>
        <pc:spChg chg="add del">
          <ac:chgData name="haihara prasath" userId="417ba85f8c28101d" providerId="LiveId" clId="{10F3BFD4-019B-499D-9CD9-815B61CEF965}" dt="2025-11-03T04:45:08.607" v="54" actId="478"/>
          <ac:spMkLst>
            <pc:docMk/>
            <pc:sldMk cId="3284615124" sldId="279"/>
            <ac:spMk id="3" creationId="{0EAAB9E8-4437-8425-F3EF-572535343D62}"/>
          </ac:spMkLst>
        </pc:spChg>
        <pc:spChg chg="add del mod">
          <ac:chgData name="haihara prasath" userId="417ba85f8c28101d" providerId="LiveId" clId="{10F3BFD4-019B-499D-9CD9-815B61CEF965}" dt="2025-11-03T04:45:36.373" v="58"/>
          <ac:spMkLst>
            <pc:docMk/>
            <pc:sldMk cId="3284615124" sldId="279"/>
            <ac:spMk id="8" creationId="{F33507EE-B225-C555-7FF8-7EB4BC9B7964}"/>
          </ac:spMkLst>
        </pc:spChg>
        <pc:spChg chg="add mod">
          <ac:chgData name="haihara prasath" userId="417ba85f8c28101d" providerId="LiveId" clId="{10F3BFD4-019B-499D-9CD9-815B61CEF965}" dt="2025-11-03T04:46:35.936" v="69" actId="20577"/>
          <ac:spMkLst>
            <pc:docMk/>
            <pc:sldMk cId="3284615124" sldId="279"/>
            <ac:spMk id="9" creationId="{D552A732-DD47-20A7-4184-E21D35FB3956}"/>
          </ac:spMkLst>
        </pc:spChg>
        <pc:spChg chg="del">
          <ac:chgData name="haihara prasath" userId="417ba85f8c28101d" providerId="LiveId" clId="{10F3BFD4-019B-499D-9CD9-815B61CEF965}" dt="2025-11-03T04:45:08.607" v="54" actId="478"/>
          <ac:spMkLst>
            <pc:docMk/>
            <pc:sldMk cId="3284615124" sldId="279"/>
            <ac:spMk id="10" creationId="{C16B499A-45B1-5EFA-E0A1-93A9F41E6046}"/>
          </ac:spMkLst>
        </pc:spChg>
      </pc:sldChg>
      <pc:sldChg chg="delSp modSp mod">
        <pc:chgData name="haihara prasath" userId="417ba85f8c28101d" providerId="LiveId" clId="{10F3BFD4-019B-499D-9CD9-815B61CEF965}" dt="2025-11-03T04:44:26.521" v="52" actId="404"/>
        <pc:sldMkLst>
          <pc:docMk/>
          <pc:sldMk cId="3838122473" sldId="289"/>
        </pc:sldMkLst>
        <pc:spChg chg="mod">
          <ac:chgData name="haihara prasath" userId="417ba85f8c28101d" providerId="LiveId" clId="{10F3BFD4-019B-499D-9CD9-815B61CEF965}" dt="2025-11-03T04:43:12.751" v="44" actId="403"/>
          <ac:spMkLst>
            <pc:docMk/>
            <pc:sldMk cId="3838122473" sldId="289"/>
            <ac:spMk id="3" creationId="{1A2BF463-C322-9259-3932-1C5739775E76}"/>
          </ac:spMkLst>
        </pc:spChg>
        <pc:spChg chg="del mod">
          <ac:chgData name="haihara prasath" userId="417ba85f8c28101d" providerId="LiveId" clId="{10F3BFD4-019B-499D-9CD9-815B61CEF965}" dt="2025-11-03T04:42:41.650" v="39"/>
          <ac:spMkLst>
            <pc:docMk/>
            <pc:sldMk cId="3838122473" sldId="289"/>
            <ac:spMk id="6" creationId="{2424A629-4207-76F6-18D7-A47858076DE7}"/>
          </ac:spMkLst>
        </pc:spChg>
        <pc:spChg chg="mod">
          <ac:chgData name="haihara prasath" userId="417ba85f8c28101d" providerId="LiveId" clId="{10F3BFD4-019B-499D-9CD9-815B61CEF965}" dt="2025-11-03T04:44:26.521" v="52" actId="404"/>
          <ac:spMkLst>
            <pc:docMk/>
            <pc:sldMk cId="3838122473" sldId="289"/>
            <ac:spMk id="7" creationId="{80C12DA3-69BA-E45B-9108-1BB42AC3756A}"/>
          </ac:spMkLst>
        </pc:spChg>
        <pc:spChg chg="del mod">
          <ac:chgData name="haihara prasath" userId="417ba85f8c28101d" providerId="LiveId" clId="{10F3BFD4-019B-499D-9CD9-815B61CEF965}" dt="2025-11-03T04:42:41.653" v="41"/>
          <ac:spMkLst>
            <pc:docMk/>
            <pc:sldMk cId="3838122473" sldId="289"/>
            <ac:spMk id="8" creationId="{1AA2BD56-E702-5E33-BA93-2C0183C40BE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8E81C3-656D-4DA1-B3BC-6FB835657F8E}" type="datetimeFigureOut">
              <a:rPr lang="en-IN" smtClean="0"/>
              <a:t>03-11-2025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28E1AC-C2D6-499A-B492-58B83259B3D5}" type="slidenum">
              <a:rPr lang="en-IN" smtClean="0"/>
              <a:t>‹#›</a:t>
            </a:fld>
            <a:endParaRPr lang="en-IN"/>
          </a:p>
        </p:txBody>
      </p:sp>
    </p:spTree>
    <p:extLst>
      <p:ext uri="{BB962C8B-B14F-4D97-AF65-F5344CB8AC3E}">
        <p14:creationId xmlns:p14="http://schemas.microsoft.com/office/powerpoint/2010/main" val="30680612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A28E1AC-C2D6-499A-B492-58B83259B3D5}" type="slidenum">
              <a:rPr lang="en-IN" smtClean="0"/>
              <a:t>2</a:t>
            </a:fld>
            <a:endParaRPr lang="en-IN"/>
          </a:p>
        </p:txBody>
      </p:sp>
    </p:spTree>
    <p:extLst>
      <p:ext uri="{BB962C8B-B14F-4D97-AF65-F5344CB8AC3E}">
        <p14:creationId xmlns:p14="http://schemas.microsoft.com/office/powerpoint/2010/main" val="42043968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90901-FDDB-241D-EBCE-2B63B035FF5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D75E6AB-E15E-5EEA-2BDD-AFD476051D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05824D1-D353-972D-294B-81DE7012D07E}"/>
              </a:ext>
            </a:extLst>
          </p:cNvPr>
          <p:cNvSpPr>
            <a:spLocks noGrp="1"/>
          </p:cNvSpPr>
          <p:nvPr>
            <p:ph type="dt" sz="half" idx="10"/>
          </p:nvPr>
        </p:nvSpPr>
        <p:spPr/>
        <p:txBody>
          <a:bodyPr/>
          <a:lstStyle/>
          <a:p>
            <a:fld id="{16595CB8-FFF1-470A-AA9C-EDE358CC0F0D}" type="datetimeFigureOut">
              <a:rPr lang="en-US" smtClean="0"/>
              <a:t>11/3/2025</a:t>
            </a:fld>
            <a:endParaRPr lang="en-US"/>
          </a:p>
        </p:txBody>
      </p:sp>
      <p:sp>
        <p:nvSpPr>
          <p:cNvPr id="5" name="Footer Placeholder 4">
            <a:extLst>
              <a:ext uri="{FF2B5EF4-FFF2-40B4-BE49-F238E27FC236}">
                <a16:creationId xmlns:a16="http://schemas.microsoft.com/office/drawing/2014/main" id="{9C82A3CC-6DDE-0066-54BD-626B6FDA78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B769A0-0A03-9005-F8B9-D86B192342D6}"/>
              </a:ext>
            </a:extLst>
          </p:cNvPr>
          <p:cNvSpPr>
            <a:spLocks noGrp="1"/>
          </p:cNvSpPr>
          <p:nvPr>
            <p:ph type="sldNum" sz="quarter" idx="12"/>
          </p:nvPr>
        </p:nvSpPr>
        <p:spPr/>
        <p:txBody>
          <a:bodyPr/>
          <a:lstStyle/>
          <a:p>
            <a:fld id="{F7A60D83-94DB-4175-B193-4A18C8288CAA}" type="slidenum">
              <a:rPr lang="en-US" smtClean="0"/>
              <a:t>‹#›</a:t>
            </a:fld>
            <a:endParaRPr lang="en-US"/>
          </a:p>
        </p:txBody>
      </p:sp>
    </p:spTree>
    <p:extLst>
      <p:ext uri="{BB962C8B-B14F-4D97-AF65-F5344CB8AC3E}">
        <p14:creationId xmlns:p14="http://schemas.microsoft.com/office/powerpoint/2010/main" val="30137732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8CA13-DFFA-F891-965E-ABCBB161B7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5FA5AA-D3B3-EBC2-DEED-608BA8AD9F4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83E11B-EAB2-D54A-F0A2-58C30A50A9E9}"/>
              </a:ext>
            </a:extLst>
          </p:cNvPr>
          <p:cNvSpPr>
            <a:spLocks noGrp="1"/>
          </p:cNvSpPr>
          <p:nvPr>
            <p:ph type="dt" sz="half" idx="10"/>
          </p:nvPr>
        </p:nvSpPr>
        <p:spPr/>
        <p:txBody>
          <a:bodyPr/>
          <a:lstStyle/>
          <a:p>
            <a:fld id="{16595CB8-FFF1-470A-AA9C-EDE358CC0F0D}" type="datetimeFigureOut">
              <a:rPr lang="en-US" smtClean="0"/>
              <a:t>11/3/2025</a:t>
            </a:fld>
            <a:endParaRPr lang="en-US"/>
          </a:p>
        </p:txBody>
      </p:sp>
      <p:sp>
        <p:nvSpPr>
          <p:cNvPr id="5" name="Footer Placeholder 4">
            <a:extLst>
              <a:ext uri="{FF2B5EF4-FFF2-40B4-BE49-F238E27FC236}">
                <a16:creationId xmlns:a16="http://schemas.microsoft.com/office/drawing/2014/main" id="{0C1540E7-B1A9-DDE8-E7A5-BAC62926A8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682103-C9BB-8D83-CC7B-23DBC3D4ECC3}"/>
              </a:ext>
            </a:extLst>
          </p:cNvPr>
          <p:cNvSpPr>
            <a:spLocks noGrp="1"/>
          </p:cNvSpPr>
          <p:nvPr>
            <p:ph type="sldNum" sz="quarter" idx="12"/>
          </p:nvPr>
        </p:nvSpPr>
        <p:spPr/>
        <p:txBody>
          <a:bodyPr/>
          <a:lstStyle/>
          <a:p>
            <a:fld id="{F7A60D83-94DB-4175-B193-4A18C8288CAA}" type="slidenum">
              <a:rPr lang="en-US" smtClean="0"/>
              <a:t>‹#›</a:t>
            </a:fld>
            <a:endParaRPr lang="en-US"/>
          </a:p>
        </p:txBody>
      </p:sp>
    </p:spTree>
    <p:extLst>
      <p:ext uri="{BB962C8B-B14F-4D97-AF65-F5344CB8AC3E}">
        <p14:creationId xmlns:p14="http://schemas.microsoft.com/office/powerpoint/2010/main" val="2942001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F6942-9E2F-1664-A4CF-8127595EA2B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5C112BE-065D-4895-3665-11CF84F76E8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13DB5ED-899C-8D68-9FEC-10101586B17E}"/>
              </a:ext>
            </a:extLst>
          </p:cNvPr>
          <p:cNvSpPr>
            <a:spLocks noGrp="1"/>
          </p:cNvSpPr>
          <p:nvPr>
            <p:ph type="dt" sz="half" idx="10"/>
          </p:nvPr>
        </p:nvSpPr>
        <p:spPr/>
        <p:txBody>
          <a:bodyPr/>
          <a:lstStyle/>
          <a:p>
            <a:fld id="{16595CB8-FFF1-470A-AA9C-EDE358CC0F0D}" type="datetimeFigureOut">
              <a:rPr lang="en-US" smtClean="0"/>
              <a:t>11/3/2025</a:t>
            </a:fld>
            <a:endParaRPr lang="en-US"/>
          </a:p>
        </p:txBody>
      </p:sp>
      <p:sp>
        <p:nvSpPr>
          <p:cNvPr id="5" name="Footer Placeholder 4">
            <a:extLst>
              <a:ext uri="{FF2B5EF4-FFF2-40B4-BE49-F238E27FC236}">
                <a16:creationId xmlns:a16="http://schemas.microsoft.com/office/drawing/2014/main" id="{CC8513A1-7317-6C28-F6EA-8C2F221B06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B59DC2-0D46-AFF8-A903-3F90EE5AD24C}"/>
              </a:ext>
            </a:extLst>
          </p:cNvPr>
          <p:cNvSpPr>
            <a:spLocks noGrp="1"/>
          </p:cNvSpPr>
          <p:nvPr>
            <p:ph type="sldNum" sz="quarter" idx="12"/>
          </p:nvPr>
        </p:nvSpPr>
        <p:spPr/>
        <p:txBody>
          <a:bodyPr/>
          <a:lstStyle/>
          <a:p>
            <a:fld id="{F7A60D83-94DB-4175-B193-4A18C8288CAA}" type="slidenum">
              <a:rPr lang="en-US" smtClean="0"/>
              <a:t>‹#›</a:t>
            </a:fld>
            <a:endParaRPr lang="en-US"/>
          </a:p>
        </p:txBody>
      </p:sp>
    </p:spTree>
    <p:extLst>
      <p:ext uri="{BB962C8B-B14F-4D97-AF65-F5344CB8AC3E}">
        <p14:creationId xmlns:p14="http://schemas.microsoft.com/office/powerpoint/2010/main" val="1402747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512BA-E38D-9F50-50F1-E13FE798D44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2832AE-7889-3CBA-28EF-53308CE7F1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EFA1784-1731-A5BC-FA97-F3E89824E6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7226CE1-8965-339A-4D81-6EDF101A1EA6}"/>
              </a:ext>
            </a:extLst>
          </p:cNvPr>
          <p:cNvSpPr>
            <a:spLocks noGrp="1"/>
          </p:cNvSpPr>
          <p:nvPr>
            <p:ph type="dt" sz="half" idx="10"/>
          </p:nvPr>
        </p:nvSpPr>
        <p:spPr/>
        <p:txBody>
          <a:bodyPr/>
          <a:lstStyle/>
          <a:p>
            <a:fld id="{16595CB8-FFF1-470A-AA9C-EDE358CC0F0D}" type="datetimeFigureOut">
              <a:rPr lang="en-US" smtClean="0"/>
              <a:t>11/3/2025</a:t>
            </a:fld>
            <a:endParaRPr lang="en-US"/>
          </a:p>
        </p:txBody>
      </p:sp>
      <p:sp>
        <p:nvSpPr>
          <p:cNvPr id="6" name="Footer Placeholder 5">
            <a:extLst>
              <a:ext uri="{FF2B5EF4-FFF2-40B4-BE49-F238E27FC236}">
                <a16:creationId xmlns:a16="http://schemas.microsoft.com/office/drawing/2014/main" id="{4AF1A912-EC48-7D57-50F8-E36303D0C1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B611F9-8290-3CEE-4482-64D302165118}"/>
              </a:ext>
            </a:extLst>
          </p:cNvPr>
          <p:cNvSpPr>
            <a:spLocks noGrp="1"/>
          </p:cNvSpPr>
          <p:nvPr>
            <p:ph type="sldNum" sz="quarter" idx="12"/>
          </p:nvPr>
        </p:nvSpPr>
        <p:spPr/>
        <p:txBody>
          <a:bodyPr/>
          <a:lstStyle/>
          <a:p>
            <a:fld id="{F7A60D83-94DB-4175-B193-4A18C8288CAA}" type="slidenum">
              <a:rPr lang="en-US" smtClean="0"/>
              <a:t>‹#›</a:t>
            </a:fld>
            <a:endParaRPr lang="en-US"/>
          </a:p>
        </p:txBody>
      </p:sp>
    </p:spTree>
    <p:extLst>
      <p:ext uri="{BB962C8B-B14F-4D97-AF65-F5344CB8AC3E}">
        <p14:creationId xmlns:p14="http://schemas.microsoft.com/office/powerpoint/2010/main" val="21651012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000CB-E835-6EC1-A3B1-FC142F899CD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1E36CB8-91C4-9775-7E6A-2FA4DD6B31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51B974-B12B-9F17-F42C-67AFDA9CB6D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65639F6-5D37-B9D9-2B80-BBBFAA2003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F2BE823-E93F-C83B-FCE6-AEE02C9496D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BB7C4B4-EB9B-169B-D089-E4BFE78617F0}"/>
              </a:ext>
            </a:extLst>
          </p:cNvPr>
          <p:cNvSpPr>
            <a:spLocks noGrp="1"/>
          </p:cNvSpPr>
          <p:nvPr>
            <p:ph type="dt" sz="half" idx="10"/>
          </p:nvPr>
        </p:nvSpPr>
        <p:spPr/>
        <p:txBody>
          <a:bodyPr/>
          <a:lstStyle/>
          <a:p>
            <a:fld id="{16595CB8-FFF1-470A-AA9C-EDE358CC0F0D}" type="datetimeFigureOut">
              <a:rPr lang="en-US" smtClean="0"/>
              <a:t>11/3/2025</a:t>
            </a:fld>
            <a:endParaRPr lang="en-US"/>
          </a:p>
        </p:txBody>
      </p:sp>
      <p:sp>
        <p:nvSpPr>
          <p:cNvPr id="8" name="Footer Placeholder 7">
            <a:extLst>
              <a:ext uri="{FF2B5EF4-FFF2-40B4-BE49-F238E27FC236}">
                <a16:creationId xmlns:a16="http://schemas.microsoft.com/office/drawing/2014/main" id="{9F7EAAEF-DE7E-0248-B26A-94A633DD9D3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D1AF5E3-9F5F-5F17-0CFB-45A353F3805A}"/>
              </a:ext>
            </a:extLst>
          </p:cNvPr>
          <p:cNvSpPr>
            <a:spLocks noGrp="1"/>
          </p:cNvSpPr>
          <p:nvPr>
            <p:ph type="sldNum" sz="quarter" idx="12"/>
          </p:nvPr>
        </p:nvSpPr>
        <p:spPr/>
        <p:txBody>
          <a:bodyPr/>
          <a:lstStyle/>
          <a:p>
            <a:fld id="{F7A60D83-94DB-4175-B193-4A18C8288CAA}" type="slidenum">
              <a:rPr lang="en-US" smtClean="0"/>
              <a:t>‹#›</a:t>
            </a:fld>
            <a:endParaRPr lang="en-US"/>
          </a:p>
        </p:txBody>
      </p:sp>
    </p:spTree>
    <p:extLst>
      <p:ext uri="{BB962C8B-B14F-4D97-AF65-F5344CB8AC3E}">
        <p14:creationId xmlns:p14="http://schemas.microsoft.com/office/powerpoint/2010/main" val="1910800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78D21-5B82-7484-AA22-A9ED016E43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24D2861-D755-0290-D3D4-66AE6E6E3857}"/>
              </a:ext>
            </a:extLst>
          </p:cNvPr>
          <p:cNvSpPr>
            <a:spLocks noGrp="1"/>
          </p:cNvSpPr>
          <p:nvPr>
            <p:ph type="dt" sz="half" idx="10"/>
          </p:nvPr>
        </p:nvSpPr>
        <p:spPr/>
        <p:txBody>
          <a:bodyPr/>
          <a:lstStyle/>
          <a:p>
            <a:fld id="{16595CB8-FFF1-470A-AA9C-EDE358CC0F0D}" type="datetimeFigureOut">
              <a:rPr lang="en-US" smtClean="0"/>
              <a:t>11/3/2025</a:t>
            </a:fld>
            <a:endParaRPr lang="en-US"/>
          </a:p>
        </p:txBody>
      </p:sp>
      <p:sp>
        <p:nvSpPr>
          <p:cNvPr id="4" name="Footer Placeholder 3">
            <a:extLst>
              <a:ext uri="{FF2B5EF4-FFF2-40B4-BE49-F238E27FC236}">
                <a16:creationId xmlns:a16="http://schemas.microsoft.com/office/drawing/2014/main" id="{A11837DB-E0F9-9AC0-3D4B-E4C1963C9A4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255F380-DA2D-4382-851F-7647832734D9}"/>
              </a:ext>
            </a:extLst>
          </p:cNvPr>
          <p:cNvSpPr>
            <a:spLocks noGrp="1"/>
          </p:cNvSpPr>
          <p:nvPr>
            <p:ph type="sldNum" sz="quarter" idx="12"/>
          </p:nvPr>
        </p:nvSpPr>
        <p:spPr/>
        <p:txBody>
          <a:bodyPr/>
          <a:lstStyle/>
          <a:p>
            <a:fld id="{F7A60D83-94DB-4175-B193-4A18C8288CAA}" type="slidenum">
              <a:rPr lang="en-US" smtClean="0"/>
              <a:t>‹#›</a:t>
            </a:fld>
            <a:endParaRPr lang="en-US"/>
          </a:p>
        </p:txBody>
      </p:sp>
    </p:spTree>
    <p:extLst>
      <p:ext uri="{BB962C8B-B14F-4D97-AF65-F5344CB8AC3E}">
        <p14:creationId xmlns:p14="http://schemas.microsoft.com/office/powerpoint/2010/main" val="23687520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0D2DC7-6066-0377-E1F2-110FF66C3D76}"/>
              </a:ext>
            </a:extLst>
          </p:cNvPr>
          <p:cNvSpPr>
            <a:spLocks noGrp="1"/>
          </p:cNvSpPr>
          <p:nvPr>
            <p:ph type="dt" sz="half" idx="10"/>
          </p:nvPr>
        </p:nvSpPr>
        <p:spPr/>
        <p:txBody>
          <a:bodyPr/>
          <a:lstStyle/>
          <a:p>
            <a:fld id="{16595CB8-FFF1-470A-AA9C-EDE358CC0F0D}" type="datetimeFigureOut">
              <a:rPr lang="en-US" smtClean="0"/>
              <a:t>11/3/2025</a:t>
            </a:fld>
            <a:endParaRPr lang="en-US"/>
          </a:p>
        </p:txBody>
      </p:sp>
      <p:sp>
        <p:nvSpPr>
          <p:cNvPr id="3" name="Footer Placeholder 2">
            <a:extLst>
              <a:ext uri="{FF2B5EF4-FFF2-40B4-BE49-F238E27FC236}">
                <a16:creationId xmlns:a16="http://schemas.microsoft.com/office/drawing/2014/main" id="{9460C570-4F83-11FC-2B55-CCBB74C524D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22E2D94-2051-B568-464F-B8539308D9DD}"/>
              </a:ext>
            </a:extLst>
          </p:cNvPr>
          <p:cNvSpPr>
            <a:spLocks noGrp="1"/>
          </p:cNvSpPr>
          <p:nvPr>
            <p:ph type="sldNum" sz="quarter" idx="12"/>
          </p:nvPr>
        </p:nvSpPr>
        <p:spPr/>
        <p:txBody>
          <a:bodyPr/>
          <a:lstStyle/>
          <a:p>
            <a:fld id="{F7A60D83-94DB-4175-B193-4A18C8288CAA}" type="slidenum">
              <a:rPr lang="en-US" smtClean="0"/>
              <a:t>‹#›</a:t>
            </a:fld>
            <a:endParaRPr lang="en-US"/>
          </a:p>
        </p:txBody>
      </p:sp>
    </p:spTree>
    <p:extLst>
      <p:ext uri="{BB962C8B-B14F-4D97-AF65-F5344CB8AC3E}">
        <p14:creationId xmlns:p14="http://schemas.microsoft.com/office/powerpoint/2010/main" val="460573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92EEC-4C47-0C9C-04CA-6019E8449E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D886D88-E3B5-3744-AB59-075F128A19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38F71B1-DBD3-4BFA-20D6-2FD59C1459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352C18-5EC5-C46E-F2B9-1E29AB98AA71}"/>
              </a:ext>
            </a:extLst>
          </p:cNvPr>
          <p:cNvSpPr>
            <a:spLocks noGrp="1"/>
          </p:cNvSpPr>
          <p:nvPr>
            <p:ph type="dt" sz="half" idx="10"/>
          </p:nvPr>
        </p:nvSpPr>
        <p:spPr/>
        <p:txBody>
          <a:bodyPr/>
          <a:lstStyle/>
          <a:p>
            <a:fld id="{16595CB8-FFF1-470A-AA9C-EDE358CC0F0D}" type="datetimeFigureOut">
              <a:rPr lang="en-US" smtClean="0"/>
              <a:t>11/3/2025</a:t>
            </a:fld>
            <a:endParaRPr lang="en-US"/>
          </a:p>
        </p:txBody>
      </p:sp>
      <p:sp>
        <p:nvSpPr>
          <p:cNvPr id="6" name="Footer Placeholder 5">
            <a:extLst>
              <a:ext uri="{FF2B5EF4-FFF2-40B4-BE49-F238E27FC236}">
                <a16:creationId xmlns:a16="http://schemas.microsoft.com/office/drawing/2014/main" id="{24504744-1FE7-5099-478E-E59FC3C8B1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E857E5-C4B7-E618-09E5-83FBCAC398CD}"/>
              </a:ext>
            </a:extLst>
          </p:cNvPr>
          <p:cNvSpPr>
            <a:spLocks noGrp="1"/>
          </p:cNvSpPr>
          <p:nvPr>
            <p:ph type="sldNum" sz="quarter" idx="12"/>
          </p:nvPr>
        </p:nvSpPr>
        <p:spPr/>
        <p:txBody>
          <a:bodyPr/>
          <a:lstStyle/>
          <a:p>
            <a:fld id="{F7A60D83-94DB-4175-B193-4A18C8288CAA}" type="slidenum">
              <a:rPr lang="en-US" smtClean="0"/>
              <a:t>‹#›</a:t>
            </a:fld>
            <a:endParaRPr lang="en-US"/>
          </a:p>
        </p:txBody>
      </p:sp>
    </p:spTree>
    <p:extLst>
      <p:ext uri="{BB962C8B-B14F-4D97-AF65-F5344CB8AC3E}">
        <p14:creationId xmlns:p14="http://schemas.microsoft.com/office/powerpoint/2010/main" val="5585708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725E7-438A-E9AA-83B8-46526068F6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0CA2AB-68B1-65C5-FA13-1361D6DA0D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792BF58-1464-F3AD-CB0B-5FE6530554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0F6EDE-8461-77AA-5DEC-B83BCA58ACCF}"/>
              </a:ext>
            </a:extLst>
          </p:cNvPr>
          <p:cNvSpPr>
            <a:spLocks noGrp="1"/>
          </p:cNvSpPr>
          <p:nvPr>
            <p:ph type="dt" sz="half" idx="10"/>
          </p:nvPr>
        </p:nvSpPr>
        <p:spPr/>
        <p:txBody>
          <a:bodyPr/>
          <a:lstStyle/>
          <a:p>
            <a:fld id="{16595CB8-FFF1-470A-AA9C-EDE358CC0F0D}" type="datetimeFigureOut">
              <a:rPr lang="en-US" smtClean="0"/>
              <a:t>11/3/2025</a:t>
            </a:fld>
            <a:endParaRPr lang="en-US"/>
          </a:p>
        </p:txBody>
      </p:sp>
      <p:sp>
        <p:nvSpPr>
          <p:cNvPr id="6" name="Footer Placeholder 5">
            <a:extLst>
              <a:ext uri="{FF2B5EF4-FFF2-40B4-BE49-F238E27FC236}">
                <a16:creationId xmlns:a16="http://schemas.microsoft.com/office/drawing/2014/main" id="{148EEACE-568D-571A-BDD5-7019AA6E41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531510-CDC0-279B-87DA-9C75572741A2}"/>
              </a:ext>
            </a:extLst>
          </p:cNvPr>
          <p:cNvSpPr>
            <a:spLocks noGrp="1"/>
          </p:cNvSpPr>
          <p:nvPr>
            <p:ph type="sldNum" sz="quarter" idx="12"/>
          </p:nvPr>
        </p:nvSpPr>
        <p:spPr/>
        <p:txBody>
          <a:bodyPr/>
          <a:lstStyle/>
          <a:p>
            <a:fld id="{F7A60D83-94DB-4175-B193-4A18C8288CAA}" type="slidenum">
              <a:rPr lang="en-US" smtClean="0"/>
              <a:t>‹#›</a:t>
            </a:fld>
            <a:endParaRPr lang="en-US"/>
          </a:p>
        </p:txBody>
      </p:sp>
    </p:spTree>
    <p:extLst>
      <p:ext uri="{BB962C8B-B14F-4D97-AF65-F5344CB8AC3E}">
        <p14:creationId xmlns:p14="http://schemas.microsoft.com/office/powerpoint/2010/main" val="269718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98044-4A76-73F9-11B3-7E3F535E31E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0EDFD0E-1618-C934-1597-A6D65A0501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60B5FE-D3B7-2342-334E-B755AA0393EC}"/>
              </a:ext>
            </a:extLst>
          </p:cNvPr>
          <p:cNvSpPr>
            <a:spLocks noGrp="1"/>
          </p:cNvSpPr>
          <p:nvPr>
            <p:ph type="dt" sz="half" idx="10"/>
          </p:nvPr>
        </p:nvSpPr>
        <p:spPr/>
        <p:txBody>
          <a:bodyPr/>
          <a:lstStyle/>
          <a:p>
            <a:fld id="{16595CB8-FFF1-470A-AA9C-EDE358CC0F0D}" type="datetimeFigureOut">
              <a:rPr lang="en-US" smtClean="0"/>
              <a:t>11/3/2025</a:t>
            </a:fld>
            <a:endParaRPr lang="en-US"/>
          </a:p>
        </p:txBody>
      </p:sp>
      <p:sp>
        <p:nvSpPr>
          <p:cNvPr id="5" name="Footer Placeholder 4">
            <a:extLst>
              <a:ext uri="{FF2B5EF4-FFF2-40B4-BE49-F238E27FC236}">
                <a16:creationId xmlns:a16="http://schemas.microsoft.com/office/drawing/2014/main" id="{57219FD3-55A7-66D6-D3EF-8AAF4C9B3A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AEFC9F-496C-224F-73A4-2E05C17E1D8D}"/>
              </a:ext>
            </a:extLst>
          </p:cNvPr>
          <p:cNvSpPr>
            <a:spLocks noGrp="1"/>
          </p:cNvSpPr>
          <p:nvPr>
            <p:ph type="sldNum" sz="quarter" idx="12"/>
          </p:nvPr>
        </p:nvSpPr>
        <p:spPr/>
        <p:txBody>
          <a:bodyPr/>
          <a:lstStyle/>
          <a:p>
            <a:fld id="{F7A60D83-94DB-4175-B193-4A18C8288CAA}" type="slidenum">
              <a:rPr lang="en-US" smtClean="0"/>
              <a:t>‹#›</a:t>
            </a:fld>
            <a:endParaRPr lang="en-US"/>
          </a:p>
        </p:txBody>
      </p:sp>
    </p:spTree>
    <p:extLst>
      <p:ext uri="{BB962C8B-B14F-4D97-AF65-F5344CB8AC3E}">
        <p14:creationId xmlns:p14="http://schemas.microsoft.com/office/powerpoint/2010/main" val="21366131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9D4E1E-B9CB-D5E8-DEB1-BA45F410889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75FE3E9-1166-F8F5-D8EA-45D04876F0C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780086-9AEF-06CE-1425-28C7D97A8A51}"/>
              </a:ext>
            </a:extLst>
          </p:cNvPr>
          <p:cNvSpPr>
            <a:spLocks noGrp="1"/>
          </p:cNvSpPr>
          <p:nvPr>
            <p:ph type="dt" sz="half" idx="10"/>
          </p:nvPr>
        </p:nvSpPr>
        <p:spPr/>
        <p:txBody>
          <a:bodyPr/>
          <a:lstStyle/>
          <a:p>
            <a:fld id="{16595CB8-FFF1-470A-AA9C-EDE358CC0F0D}" type="datetimeFigureOut">
              <a:rPr lang="en-US" smtClean="0"/>
              <a:t>11/3/2025</a:t>
            </a:fld>
            <a:endParaRPr lang="en-US"/>
          </a:p>
        </p:txBody>
      </p:sp>
      <p:sp>
        <p:nvSpPr>
          <p:cNvPr id="5" name="Footer Placeholder 4">
            <a:extLst>
              <a:ext uri="{FF2B5EF4-FFF2-40B4-BE49-F238E27FC236}">
                <a16:creationId xmlns:a16="http://schemas.microsoft.com/office/drawing/2014/main" id="{175D0D32-8917-09CA-F2C6-92B7B1B11D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7E4838-799A-BB65-E9A7-DB01E86E8038}"/>
              </a:ext>
            </a:extLst>
          </p:cNvPr>
          <p:cNvSpPr>
            <a:spLocks noGrp="1"/>
          </p:cNvSpPr>
          <p:nvPr>
            <p:ph type="sldNum" sz="quarter" idx="12"/>
          </p:nvPr>
        </p:nvSpPr>
        <p:spPr/>
        <p:txBody>
          <a:bodyPr/>
          <a:lstStyle/>
          <a:p>
            <a:fld id="{F7A60D83-94DB-4175-B193-4A18C8288CAA}" type="slidenum">
              <a:rPr lang="en-US" smtClean="0"/>
              <a:t>‹#›</a:t>
            </a:fld>
            <a:endParaRPr lang="en-US"/>
          </a:p>
        </p:txBody>
      </p:sp>
    </p:spTree>
    <p:extLst>
      <p:ext uri="{BB962C8B-B14F-4D97-AF65-F5344CB8AC3E}">
        <p14:creationId xmlns:p14="http://schemas.microsoft.com/office/powerpoint/2010/main" val="32302349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06FDC2-0088-9214-2297-0212365671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AE6AC6A-4F42-F180-A4AA-CBD7ADF746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2C37E5-3953-89AE-213C-2466443F48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595CB8-FFF1-470A-AA9C-EDE358CC0F0D}" type="datetimeFigureOut">
              <a:rPr lang="en-US" smtClean="0"/>
              <a:t>11/3/2025</a:t>
            </a:fld>
            <a:endParaRPr lang="en-US"/>
          </a:p>
        </p:txBody>
      </p:sp>
      <p:sp>
        <p:nvSpPr>
          <p:cNvPr id="5" name="Footer Placeholder 4">
            <a:extLst>
              <a:ext uri="{FF2B5EF4-FFF2-40B4-BE49-F238E27FC236}">
                <a16:creationId xmlns:a16="http://schemas.microsoft.com/office/drawing/2014/main" id="{95C3A6AC-1669-508A-BD43-9FA557B8B5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E2C4D70-B3AC-C126-4E25-4B44F65190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A60D83-94DB-4175-B193-4A18C8288CAA}" type="slidenum">
              <a:rPr lang="en-US" smtClean="0"/>
              <a:t>‹#›</a:t>
            </a:fld>
            <a:endParaRPr lang="en-US"/>
          </a:p>
        </p:txBody>
      </p:sp>
    </p:spTree>
    <p:extLst>
      <p:ext uri="{BB962C8B-B14F-4D97-AF65-F5344CB8AC3E}">
        <p14:creationId xmlns:p14="http://schemas.microsoft.com/office/powerpoint/2010/main" val="14493258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9.jpe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6ACDD-EC81-47F6-0503-E7D3C30E5329}"/>
              </a:ext>
            </a:extLst>
          </p:cNvPr>
          <p:cNvSpPr>
            <a:spLocks noGrp="1"/>
          </p:cNvSpPr>
          <p:nvPr>
            <p:ph type="ctrTitle"/>
          </p:nvPr>
        </p:nvSpPr>
        <p:spPr>
          <a:xfrm>
            <a:off x="1770303" y="522700"/>
            <a:ext cx="9144000" cy="541162"/>
          </a:xfrm>
        </p:spPr>
        <p:txBody>
          <a:bodyPr>
            <a:noAutofit/>
          </a:bodyPr>
          <a:lstStyle/>
          <a:p>
            <a:r>
              <a:rPr lang="en-US" sz="4800" b="1" dirty="0">
                <a:effectLst/>
                <a:latin typeface="Times New Roman" panose="02020603050405020304" pitchFamily="18" charset="0"/>
                <a:ea typeface="Calibri" panose="020F0502020204030204" pitchFamily="34" charset="0"/>
                <a:cs typeface="Times New Roman" panose="02020603050405020304" pitchFamily="18" charset="0"/>
              </a:rPr>
              <a:t>SIMATS ENGINEERING</a:t>
            </a:r>
            <a:endParaRPr lang="en-US" sz="48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A9A89F28-3812-7A8E-BCCD-11B874AEF8AF}"/>
              </a:ext>
            </a:extLst>
          </p:cNvPr>
          <p:cNvSpPr>
            <a:spLocks noGrp="1"/>
          </p:cNvSpPr>
          <p:nvPr>
            <p:ph type="subTitle" idx="1"/>
          </p:nvPr>
        </p:nvSpPr>
        <p:spPr>
          <a:xfrm>
            <a:off x="385358" y="1347594"/>
            <a:ext cx="11806642" cy="2626331"/>
          </a:xfrm>
        </p:spPr>
        <p:txBody>
          <a:bodyPr>
            <a:normAutofit/>
          </a:bodyPr>
          <a:lstStyle/>
          <a:p>
            <a:r>
              <a:rPr lang="en-IN" sz="2200" b="1" dirty="0">
                <a:latin typeface="Times New Roman" panose="02020603050405020304" pitchFamily="18" charset="0"/>
                <a:cs typeface="Times New Roman" panose="02020603050405020304" pitchFamily="18" charset="0"/>
              </a:rPr>
              <a:t>CAPSTONE PROJECT TITLE</a:t>
            </a:r>
          </a:p>
          <a:p>
            <a:r>
              <a:rPr lang="en-US" b="1" cap="all" dirty="0">
                <a:solidFill>
                  <a:schemeClr val="accent2">
                    <a:lumMod val="75000"/>
                  </a:schemeClr>
                </a:solidFill>
                <a:latin typeface="Times New Roman" panose="02020603050405020304" pitchFamily="18" charset="0"/>
                <a:cs typeface="Times New Roman" panose="02020603050405020304" pitchFamily="18" charset="0"/>
              </a:rPr>
              <a:t>Food Delivery System Using OOP Concepts</a:t>
            </a:r>
          </a:p>
          <a:p>
            <a:r>
              <a:rPr lang="en-IN" b="1" dirty="0">
                <a:latin typeface="Times New Roman" panose="02020603050405020304" pitchFamily="18" charset="0"/>
                <a:cs typeface="Times New Roman" panose="02020603050405020304" pitchFamily="18" charset="0"/>
              </a:rPr>
              <a:t>CSA1103</a:t>
            </a:r>
          </a:p>
          <a:p>
            <a:r>
              <a:rPr lang="en-IN" sz="2000" b="1" dirty="0">
                <a:solidFill>
                  <a:srgbClr val="002060"/>
                </a:solidFill>
                <a:latin typeface="Times New Roman" panose="02020603050405020304" pitchFamily="18" charset="0"/>
                <a:cs typeface="Times New Roman" panose="02020603050405020304" pitchFamily="18" charset="0"/>
              </a:rPr>
              <a:t>OBJECT ORIENTED ANALYSIS AND DESIGN </a:t>
            </a:r>
          </a:p>
          <a:p>
            <a:r>
              <a:rPr lang="en-IN" sz="2000" b="1" dirty="0">
                <a:solidFill>
                  <a:srgbClr val="002060"/>
                </a:solidFill>
                <a:latin typeface="Times New Roman" panose="02020603050405020304" pitchFamily="18" charset="0"/>
                <a:cs typeface="Times New Roman" panose="02020603050405020304" pitchFamily="18" charset="0"/>
              </a:rPr>
              <a:t>FOR INFORMATION SYSTEM </a:t>
            </a:r>
          </a:p>
          <a:p>
            <a:endParaRPr lang="en-IN" b="1" dirty="0">
              <a:latin typeface="Times New Roman" panose="02020603050405020304" pitchFamily="18" charset="0"/>
              <a:cs typeface="Times New Roman" panose="02020603050405020304" pitchFamily="18" charset="0"/>
            </a:endParaRPr>
          </a:p>
          <a:p>
            <a:endParaRPr lang="en-IN" sz="3200" b="1" dirty="0">
              <a:solidFill>
                <a:srgbClr val="0070C0"/>
              </a:solidFill>
              <a:latin typeface="Times New Roman" panose="02020603050405020304" pitchFamily="18" charset="0"/>
              <a:cs typeface="Times New Roman" panose="02020603050405020304" pitchFamily="18" charset="0"/>
            </a:endParaRPr>
          </a:p>
          <a:p>
            <a:endParaRPr lang="en-IN" sz="3200" b="1" dirty="0">
              <a:solidFill>
                <a:srgbClr val="0070C0"/>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E7921020-7D5A-91BA-8C69-AA4A4D0987F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Subtitle 2">
            <a:extLst>
              <a:ext uri="{FF2B5EF4-FFF2-40B4-BE49-F238E27FC236}">
                <a16:creationId xmlns:a16="http://schemas.microsoft.com/office/drawing/2014/main" id="{30311814-D603-17AE-559A-901EB88A9DB0}"/>
              </a:ext>
            </a:extLst>
          </p:cNvPr>
          <p:cNvSpPr txBox="1">
            <a:spLocks/>
          </p:cNvSpPr>
          <p:nvPr/>
        </p:nvSpPr>
        <p:spPr>
          <a:xfrm>
            <a:off x="5700041" y="4210717"/>
            <a:ext cx="6491959" cy="207511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2000" b="1" dirty="0">
                <a:solidFill>
                  <a:srgbClr val="002060"/>
                </a:solidFill>
                <a:latin typeface="Times New Roman" panose="02020603050405020304" pitchFamily="18" charset="0"/>
                <a:cs typeface="Times New Roman" panose="02020603050405020304" pitchFamily="18" charset="0"/>
              </a:rPr>
              <a:t>PRESENTED BY</a:t>
            </a:r>
          </a:p>
          <a:p>
            <a:r>
              <a:rPr lang="en-US" sz="2000" b="1" dirty="0">
                <a:latin typeface="Times New Roman" panose="02020603050405020304" pitchFamily="18" charset="0"/>
                <a:cs typeface="Times New Roman" panose="02020603050405020304" pitchFamily="18" charset="0"/>
              </a:rPr>
              <a:t>ROHAN KUMAR A(192471013)</a:t>
            </a:r>
          </a:p>
          <a:p>
            <a:r>
              <a:rPr lang="en-US" sz="2000" b="1" dirty="0">
                <a:latin typeface="Times New Roman" panose="02020603050405020304" pitchFamily="18" charset="0"/>
                <a:cs typeface="Times New Roman" panose="02020603050405020304" pitchFamily="18" charset="0"/>
              </a:rPr>
              <a:t>V.M.HARIHARA PARASATH (192421393)</a:t>
            </a:r>
          </a:p>
        </p:txBody>
      </p:sp>
      <p:pic>
        <p:nvPicPr>
          <p:cNvPr id="5" name="Picture 3">
            <a:extLst>
              <a:ext uri="{FF2B5EF4-FFF2-40B4-BE49-F238E27FC236}">
                <a16:creationId xmlns:a16="http://schemas.microsoft.com/office/drawing/2014/main" id="{A7EB9121-87C8-8A70-F2FF-ECE93F90CB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180" y="98217"/>
            <a:ext cx="1135539" cy="112364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22A27715-19FD-E44B-0376-3A8EB80414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17504" y="167340"/>
            <a:ext cx="871295" cy="111774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64F6D9E9-72D2-EF84-BAC7-FCF332D8B34F}"/>
              </a:ext>
            </a:extLst>
          </p:cNvPr>
          <p:cNvSpPr txBox="1"/>
          <p:nvPr/>
        </p:nvSpPr>
        <p:spPr>
          <a:xfrm>
            <a:off x="727587" y="3922490"/>
            <a:ext cx="5515897" cy="1883657"/>
          </a:xfrm>
          <a:prstGeom prst="rect">
            <a:avLst/>
          </a:prstGeom>
          <a:noFill/>
        </p:spPr>
        <p:txBody>
          <a:bodyPr wrap="square">
            <a:spAutoFit/>
          </a:bodyPr>
          <a:lstStyle/>
          <a:p>
            <a:pPr algn="ctr">
              <a:lnSpc>
                <a:spcPct val="150000"/>
              </a:lnSpc>
            </a:pPr>
            <a:r>
              <a:rPr lang="en-US" sz="2000" b="1" dirty="0">
                <a:solidFill>
                  <a:srgbClr val="002060"/>
                </a:solidFill>
                <a:latin typeface="Times New Roman" panose="02020603050405020304" pitchFamily="18" charset="0"/>
                <a:cs typeface="Times New Roman" panose="02020603050405020304" pitchFamily="18" charset="0"/>
              </a:rPr>
              <a:t>SUPERVISOR    </a:t>
            </a:r>
            <a:r>
              <a:rPr lang="en-US" sz="2000" b="1" dirty="0">
                <a:solidFill>
                  <a:srgbClr val="002060"/>
                </a:solidFill>
              </a:rPr>
              <a:t>                    </a:t>
            </a:r>
          </a:p>
          <a:p>
            <a:pPr algn="ctr">
              <a:lnSpc>
                <a:spcPct val="150000"/>
              </a:lnSpc>
            </a:pPr>
            <a:r>
              <a:rPr lang="en-US" sz="2000" b="1" dirty="0">
                <a:solidFill>
                  <a:srgbClr val="002060"/>
                </a:solidFill>
              </a:rPr>
              <a:t>  </a:t>
            </a:r>
            <a:r>
              <a:rPr lang="en-US" sz="2000" b="1" dirty="0">
                <a:solidFill>
                  <a:srgbClr val="002060"/>
                </a:solidFill>
                <a:latin typeface="Times New Roman" panose="02020603050405020304" pitchFamily="18" charset="0"/>
                <a:cs typeface="Times New Roman" panose="02020603050405020304" pitchFamily="18" charset="0"/>
              </a:rPr>
              <a:t> Dr R</a:t>
            </a:r>
            <a:r>
              <a:rPr lang="en-US" sz="2000" b="1" dirty="0">
                <a:solidFill>
                  <a:srgbClr val="002060"/>
                </a:solidFill>
              </a:rPr>
              <a:t> </a:t>
            </a:r>
            <a:r>
              <a:rPr lang="en-US" sz="2000" b="1" dirty="0">
                <a:latin typeface="Times New Roman" panose="02020603050405020304" pitchFamily="18" charset="0"/>
                <a:cs typeface="Times New Roman" panose="02020603050405020304" pitchFamily="18" charset="0"/>
              </a:rPr>
              <a:t>DHANALAKSHMI (PROFESSOR)</a:t>
            </a:r>
          </a:p>
          <a:p>
            <a:pPr algn="ctr">
              <a:lnSpc>
                <a:spcPct val="150000"/>
              </a:lnSpc>
            </a:pPr>
            <a:r>
              <a:rPr lang="en-US" sz="2000" b="1" dirty="0">
                <a:latin typeface="Times New Roman" panose="02020603050405020304" pitchFamily="18" charset="0"/>
                <a:cs typeface="Times New Roman" panose="02020603050405020304" pitchFamily="18" charset="0"/>
              </a:rPr>
              <a:t>Mrs S SARANIYA(ASSOCIATE PROFESSOR) </a:t>
            </a:r>
          </a:p>
          <a:p>
            <a:pPr algn="ctr">
              <a:lnSpc>
                <a:spcPct val="150000"/>
              </a:lnSpc>
            </a:pPr>
            <a:r>
              <a:rPr lang="en-US" sz="2000" b="1" dirty="0">
                <a:latin typeface="Times New Roman" panose="02020603050405020304" pitchFamily="18" charset="0"/>
                <a:cs typeface="Times New Roman" panose="02020603050405020304" pitchFamily="18" charset="0"/>
              </a:rPr>
              <a:t>DEPARTMENT OF CSE</a:t>
            </a:r>
          </a:p>
        </p:txBody>
      </p:sp>
    </p:spTree>
    <p:extLst>
      <p:ext uri="{BB962C8B-B14F-4D97-AF65-F5344CB8AC3E}">
        <p14:creationId xmlns:p14="http://schemas.microsoft.com/office/powerpoint/2010/main" val="20917621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61321-9726-17A3-CCD2-A3131FEB58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4639CD-E753-91AE-0F48-C3016D907E2D}"/>
              </a:ext>
            </a:extLst>
          </p:cNvPr>
          <p:cNvSpPr>
            <a:spLocks noGrp="1"/>
          </p:cNvSpPr>
          <p:nvPr>
            <p:ph type="ctrTitle"/>
          </p:nvPr>
        </p:nvSpPr>
        <p:spPr>
          <a:xfrm>
            <a:off x="1524000" y="98217"/>
            <a:ext cx="9144000" cy="1096547"/>
          </a:xfrm>
        </p:spPr>
        <p:txBody>
          <a:bodyPr>
            <a:normAutofit/>
            <a:scene3d>
              <a:camera prst="orthographicFront"/>
              <a:lightRig rig="soft" dir="t">
                <a:rot lat="0" lon="0" rev="15600000"/>
              </a:lightRig>
            </a:scene3d>
            <a:sp3d extrusionH="57150" prstMaterial="softEdge">
              <a:bevelT w="25400" h="38100"/>
            </a:sp3d>
          </a:bodyPr>
          <a:lstStyle/>
          <a:p>
            <a:pPr>
              <a:tabLst>
                <a:tab pos="1431925" algn="l"/>
              </a:tabLst>
            </a:pPr>
            <a:r>
              <a:rPr lang="en-IN" sz="4800" b="1" dirty="0">
                <a:ln w="0"/>
                <a:solidFill>
                  <a:schemeClr val="accent1"/>
                </a:solidFill>
                <a:effectLst>
                  <a:outerShdw blurRad="38100" dist="25400" dir="5400000" algn="ctr" rotWithShape="0">
                    <a:srgbClr val="6E747A">
                      <a:alpha val="43000"/>
                    </a:srgbClr>
                  </a:outerShdw>
                </a:effectLst>
                <a:latin typeface="Arial Black" panose="020B0A04020102020204" pitchFamily="34" charset="0"/>
                <a:cs typeface="Times New Roman" panose="02020603050405020304" pitchFamily="18" charset="0"/>
              </a:rPr>
              <a:t>ABSTRACT</a:t>
            </a:r>
            <a:endParaRPr lang="en-US" sz="4800" b="1" dirty="0">
              <a:ln w="0"/>
              <a:solidFill>
                <a:schemeClr val="accent1"/>
              </a:solidFill>
              <a:effectLst>
                <a:outerShdw blurRad="38100" dist="25400" dir="5400000" algn="ctr" rotWithShape="0">
                  <a:srgbClr val="6E747A">
                    <a:alpha val="43000"/>
                  </a:srgbClr>
                </a:outerShdw>
              </a:effectLst>
              <a:latin typeface="Arial Black" panose="020B0A04020102020204" pitchFamily="34" charset="0"/>
              <a:cs typeface="Times New Roman" panose="02020603050405020304" pitchFamily="18" charset="0"/>
            </a:endParaRPr>
          </a:p>
        </p:txBody>
      </p:sp>
      <p:pic>
        <p:nvPicPr>
          <p:cNvPr id="2049" name="Picture 2">
            <a:extLst>
              <a:ext uri="{FF2B5EF4-FFF2-40B4-BE49-F238E27FC236}">
                <a16:creationId xmlns:a16="http://schemas.microsoft.com/office/drawing/2014/main" id="{314CB3DF-77C8-B1FE-3DB5-D49F1CCD34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7184" y="104124"/>
            <a:ext cx="871295" cy="1117741"/>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3">
            <a:extLst>
              <a:ext uri="{FF2B5EF4-FFF2-40B4-BE49-F238E27FC236}">
                <a16:creationId xmlns:a16="http://schemas.microsoft.com/office/drawing/2014/main" id="{AE6577A1-BF5B-4557-A3DB-C38C98907E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180" y="98217"/>
            <a:ext cx="1135539" cy="112364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6939B101-7944-9B05-0252-A1D255919F69}"/>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TextBox 5">
            <a:extLst>
              <a:ext uri="{FF2B5EF4-FFF2-40B4-BE49-F238E27FC236}">
                <a16:creationId xmlns:a16="http://schemas.microsoft.com/office/drawing/2014/main" id="{E13A89C4-BC26-1344-E9D0-DA103A3DDDA1}"/>
              </a:ext>
            </a:extLst>
          </p:cNvPr>
          <p:cNvSpPr txBox="1"/>
          <p:nvPr/>
        </p:nvSpPr>
        <p:spPr>
          <a:xfrm>
            <a:off x="3649130" y="1822528"/>
            <a:ext cx="8444547" cy="3691844"/>
          </a:xfrm>
          <a:prstGeom prst="rect">
            <a:avLst/>
          </a:prstGeom>
          <a:noFill/>
        </p:spPr>
        <p:txBody>
          <a:bodyPr wrap="square">
            <a:spAutoFit/>
          </a:bodyPr>
          <a:lstStyle/>
          <a:p>
            <a:pPr marL="285750" indent="-285750">
              <a:lnSpc>
                <a:spcPct val="20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The aim of this project is to design a food delivery system using Object-Oriented Programming (OOP) principles. </a:t>
            </a:r>
          </a:p>
          <a:p>
            <a:pPr marL="285750" indent="-285750">
              <a:lnSpc>
                <a:spcPct val="20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The system will efficiently manage restaurants, menus, customer orders, and payments, while applying encapsulation, inheritance, and polymorphism. </a:t>
            </a:r>
          </a:p>
          <a:p>
            <a:pPr marL="285750" indent="-285750">
              <a:lnSpc>
                <a:spcPct val="20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The design focuses on creating a modular, scalable, and maintainable architecture that can be easily extended or modified in the future.</a:t>
            </a:r>
            <a:endParaRPr lang="en-US" dirty="0">
              <a:latin typeface="Times New Roman" panose="02020603050405020304" pitchFamily="18" charset="0"/>
              <a:cs typeface="Times New Roman" panose="02020603050405020304" pitchFamily="18" charset="0"/>
            </a:endParaRPr>
          </a:p>
        </p:txBody>
      </p:sp>
      <p:sp>
        <p:nvSpPr>
          <p:cNvPr id="7" name="Rectangle 1">
            <a:extLst>
              <a:ext uri="{FF2B5EF4-FFF2-40B4-BE49-F238E27FC236}">
                <a16:creationId xmlns:a16="http://schemas.microsoft.com/office/drawing/2014/main" id="{7C75E30B-A7B0-7A5B-E8AE-C1944C1661C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1026" name="Picture 2" descr="Design Food Delivery App Mobile System Design">
            <a:extLst>
              <a:ext uri="{FF2B5EF4-FFF2-40B4-BE49-F238E27FC236}">
                <a16:creationId xmlns:a16="http://schemas.microsoft.com/office/drawing/2014/main" id="{962E3D65-EB41-95E8-D2C1-E5DFC4B0F76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3123" y="1822528"/>
            <a:ext cx="3165987" cy="40276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1162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3E51D-30E9-5DC8-5997-64CB44B953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77FBBC-9488-F05C-BCCA-0474DA68B285}"/>
              </a:ext>
            </a:extLst>
          </p:cNvPr>
          <p:cNvSpPr>
            <a:spLocks noGrp="1"/>
          </p:cNvSpPr>
          <p:nvPr>
            <p:ph type="ctrTitle"/>
          </p:nvPr>
        </p:nvSpPr>
        <p:spPr>
          <a:xfrm>
            <a:off x="1524000" y="228600"/>
            <a:ext cx="9144000" cy="1096547"/>
          </a:xfrm>
        </p:spPr>
        <p:txBody>
          <a:bodyPr>
            <a:normAutofit/>
          </a:bodyPr>
          <a:lstStyle/>
          <a:p>
            <a:r>
              <a:rPr lang="en-US" sz="4800" b="1" dirty="0">
                <a:ln w="0"/>
                <a:solidFill>
                  <a:schemeClr val="accent1"/>
                </a:solidFill>
                <a:effectLst>
                  <a:outerShdw blurRad="38100" dist="25400" dir="5400000" algn="ctr" rotWithShape="0">
                    <a:srgbClr val="6E747A">
                      <a:alpha val="43000"/>
                    </a:srgbClr>
                  </a:outerShdw>
                </a:effectLst>
                <a:latin typeface="Arial Black" panose="020B0A04020102020204" pitchFamily="34" charset="0"/>
                <a:cs typeface="Times New Roman" panose="02020603050405020304" pitchFamily="18" charset="0"/>
              </a:rPr>
              <a:t>I</a:t>
            </a:r>
            <a:r>
              <a:rPr lang="en-IN" sz="4800" b="1" dirty="0">
                <a:ln w="0"/>
                <a:solidFill>
                  <a:schemeClr val="accent1"/>
                </a:solidFill>
                <a:effectLst>
                  <a:outerShdw blurRad="38100" dist="25400" dir="5400000" algn="ctr" rotWithShape="0">
                    <a:srgbClr val="6E747A">
                      <a:alpha val="43000"/>
                    </a:srgbClr>
                  </a:outerShdw>
                </a:effectLst>
                <a:latin typeface="Arial Black" panose="020B0A04020102020204" pitchFamily="34" charset="0"/>
                <a:cs typeface="Times New Roman" panose="02020603050405020304" pitchFamily="18" charset="0"/>
              </a:rPr>
              <a:t>NTRODUCTION</a:t>
            </a:r>
            <a:endParaRPr lang="en-US" sz="4800" dirty="0">
              <a:solidFill>
                <a:srgbClr val="FF0000"/>
              </a:solidFill>
            </a:endParaRPr>
          </a:p>
        </p:txBody>
      </p:sp>
      <p:sp>
        <p:nvSpPr>
          <p:cNvPr id="4" name="Rectangle 3">
            <a:extLst>
              <a:ext uri="{FF2B5EF4-FFF2-40B4-BE49-F238E27FC236}">
                <a16:creationId xmlns:a16="http://schemas.microsoft.com/office/drawing/2014/main" id="{43185A1E-713B-ED59-7A07-B399646B923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5" name="Picture 3">
            <a:extLst>
              <a:ext uri="{FF2B5EF4-FFF2-40B4-BE49-F238E27FC236}">
                <a16:creationId xmlns:a16="http://schemas.microsoft.com/office/drawing/2014/main" id="{4912E658-0B29-9364-B21C-01DE16C8CF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461" y="251939"/>
            <a:ext cx="1135539" cy="112364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FE89CAAD-E579-02C1-66AF-7FA46FE260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32244" y="254892"/>
            <a:ext cx="871295" cy="1117741"/>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1">
            <a:extLst>
              <a:ext uri="{FF2B5EF4-FFF2-40B4-BE49-F238E27FC236}">
                <a16:creationId xmlns:a16="http://schemas.microsoft.com/office/drawing/2014/main" id="{14C690F7-305F-A610-3220-9416671A64C3}"/>
              </a:ext>
            </a:extLst>
          </p:cNvPr>
          <p:cNvSpPr>
            <a:spLocks noChangeArrowheads="1"/>
          </p:cNvSpPr>
          <p:nvPr/>
        </p:nvSpPr>
        <p:spPr bwMode="auto">
          <a:xfrm>
            <a:off x="4208206" y="1959844"/>
            <a:ext cx="7294309" cy="3331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lnSpc>
                <a:spcPct val="200000"/>
              </a:lnSpc>
              <a:spcBef>
                <a:spcPct val="0"/>
              </a:spcBef>
              <a:spcAft>
                <a:spcPct val="0"/>
              </a:spcAf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 food delivery system is an application that connects customers with restaurants, allowing them to browse menus, place orders, and make payments online. </a:t>
            </a:r>
          </a:p>
          <a:p>
            <a:pPr marL="285750" lvl="0" indent="-285750" eaLnBrk="0" fontAlgn="base" hangingPunct="0">
              <a:lnSpc>
                <a:spcPct val="200000"/>
              </a:lnSpc>
              <a:spcBef>
                <a:spcPct val="0"/>
              </a:spcBef>
              <a:spcAft>
                <a:spcPct val="0"/>
              </a:spcAf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Using Object-Oriented Programming (OOP) principles, such a system can be designed in a structured and modular way. OOP helps in organizing the system into classes like Restaurant, Menu, Order, and Customer</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2050" name="Picture 2" descr="Online Food Delivery System ...">
            <a:extLst>
              <a:ext uri="{FF2B5EF4-FFF2-40B4-BE49-F238E27FC236}">
                <a16:creationId xmlns:a16="http://schemas.microsoft.com/office/drawing/2014/main" id="{A3DD09D9-E174-746B-A409-4C20A287EE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135" y="2054943"/>
            <a:ext cx="3923071" cy="35297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09128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5BEC4-7DBE-4AE3-5FB0-B454A91647CD}"/>
              </a:ext>
            </a:extLst>
          </p:cNvPr>
          <p:cNvSpPr>
            <a:spLocks noGrp="1"/>
          </p:cNvSpPr>
          <p:nvPr>
            <p:ph type="title"/>
          </p:nvPr>
        </p:nvSpPr>
        <p:spPr>
          <a:xfrm>
            <a:off x="838200" y="328682"/>
            <a:ext cx="10515600" cy="1325563"/>
          </a:xfrm>
        </p:spPr>
        <p:txBody>
          <a:bodyPr/>
          <a:lstStyle/>
          <a:p>
            <a:r>
              <a:rPr lang="en-US" dirty="0"/>
              <a:t>P      </a:t>
            </a:r>
            <a:r>
              <a:rPr lang="en-US" sz="3600"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D7874A3-30A8-DFC9-4A4B-ACB3740D8BD3}"/>
              </a:ext>
            </a:extLst>
          </p:cNvPr>
          <p:cNvSpPr>
            <a:spLocks noGrp="1"/>
          </p:cNvSpPr>
          <p:nvPr>
            <p:ph idx="1"/>
          </p:nvPr>
        </p:nvSpPr>
        <p:spPr>
          <a:xfrm>
            <a:off x="838200" y="1543077"/>
            <a:ext cx="8308257" cy="4746145"/>
          </a:xfrm>
        </p:spPr>
        <p:txBody>
          <a:bodyPr>
            <a:normAutofit/>
          </a:bodyPr>
          <a:lstStyle/>
          <a:p>
            <a:pPr marL="0" indent="0">
              <a:lnSpc>
                <a:spcPct val="150000"/>
              </a:lnSpc>
              <a:buNone/>
            </a:pPr>
            <a:r>
              <a:rPr lang="en-US" sz="1800" dirty="0">
                <a:solidFill>
                  <a:srgbClr val="FF0000"/>
                </a:solidFill>
                <a:latin typeface="Times New Roman" panose="02020603050405020304" pitchFamily="18" charset="0"/>
                <a:cs typeface="Times New Roman" panose="02020603050405020304" pitchFamily="18" charset="0"/>
              </a:rPr>
              <a:t>PROJECT OBJECTIVES:</a:t>
            </a:r>
          </a:p>
          <a:p>
            <a:r>
              <a:rPr lang="en-US" sz="1800" dirty="0">
                <a:latin typeface="Times New Roman" panose="02020603050405020304" pitchFamily="18" charset="0"/>
                <a:cs typeface="Times New Roman" panose="02020603050405020304" pitchFamily="18" charset="0"/>
              </a:rPr>
              <a:t>To design an efficient food delivery system using OOP concepts.</a:t>
            </a:r>
          </a:p>
          <a:p>
            <a:r>
              <a:rPr lang="en-US" sz="1800" dirty="0">
                <a:latin typeface="Times New Roman" panose="02020603050405020304" pitchFamily="18" charset="0"/>
                <a:cs typeface="Times New Roman" panose="02020603050405020304" pitchFamily="18" charset="0"/>
              </a:rPr>
              <a:t>To manage restaurants, customers, menus, and orders effectively.</a:t>
            </a:r>
          </a:p>
          <a:p>
            <a:r>
              <a:rPr lang="en-US" sz="1800" dirty="0">
                <a:latin typeface="Times New Roman" panose="02020603050405020304" pitchFamily="18" charset="0"/>
                <a:cs typeface="Times New Roman" panose="02020603050405020304" pitchFamily="18" charset="0"/>
              </a:rPr>
              <a:t>To ensure secure payments and scalable system performance.</a:t>
            </a:r>
          </a:p>
          <a:p>
            <a:pPr marL="0" indent="0">
              <a:buNone/>
            </a:pPr>
            <a:r>
              <a:rPr lang="en-US" sz="1800" dirty="0">
                <a:solidFill>
                  <a:srgbClr val="FF0000"/>
                </a:solidFill>
                <a:latin typeface="Times New Roman" panose="02020603050405020304" pitchFamily="18" charset="0"/>
                <a:cs typeface="Times New Roman" panose="02020603050405020304" pitchFamily="18" charset="0"/>
              </a:rPr>
              <a:t>SIGNIFICANCE:</a:t>
            </a:r>
          </a:p>
          <a:p>
            <a:r>
              <a:rPr lang="en-US" sz="1800" dirty="0"/>
              <a:t>Helps simplify and automate food ordering and delivery processes.</a:t>
            </a:r>
          </a:p>
          <a:p>
            <a:r>
              <a:rPr lang="en-US" sz="1800" dirty="0"/>
              <a:t>Enhances user experience through efficient and reliable service.</a:t>
            </a:r>
          </a:p>
          <a:p>
            <a:r>
              <a:rPr lang="en-US" sz="1800" dirty="0"/>
              <a:t>Demonstrates the practical use of OOP concepts in real-world applications.</a:t>
            </a:r>
          </a:p>
          <a:p>
            <a:pPr marL="0" indent="0">
              <a:buNone/>
            </a:pPr>
            <a:r>
              <a:rPr lang="en-US" sz="1800" dirty="0">
                <a:solidFill>
                  <a:srgbClr val="FF0000"/>
                </a:solidFill>
                <a:latin typeface="Times New Roman" panose="02020603050405020304" pitchFamily="18" charset="0"/>
                <a:cs typeface="Times New Roman" panose="02020603050405020304" pitchFamily="18" charset="0"/>
              </a:rPr>
              <a:t>SCOPE:</a:t>
            </a:r>
          </a:p>
          <a:p>
            <a:r>
              <a:rPr lang="en-US" sz="1800" dirty="0"/>
              <a:t>overs restaurant, menu, order, and customer management using OOP concepts.</a:t>
            </a:r>
          </a:p>
          <a:p>
            <a:r>
              <a:rPr lang="en-US" sz="1800" dirty="0"/>
              <a:t>Includes order tracking, payment handling, and delivery management features.</a:t>
            </a:r>
          </a:p>
          <a:p>
            <a:r>
              <a:rPr lang="en-US" sz="1800" dirty="0"/>
              <a:t>Can be expanded to support multiple restaurants and real-time updates.</a:t>
            </a:r>
          </a:p>
          <a:p>
            <a:pPr marL="0" indent="0">
              <a:buNone/>
            </a:pPr>
            <a:endParaRPr lang="en-US" sz="1800" dirty="0">
              <a:latin typeface="Times New Roman" panose="02020603050405020304" pitchFamily="18" charset="0"/>
              <a:cs typeface="Times New Roman" panose="02020603050405020304" pitchFamily="18" charset="0"/>
            </a:endParaRPr>
          </a:p>
          <a:p>
            <a:pPr marL="0" indent="0">
              <a:lnSpc>
                <a:spcPct val="150000"/>
              </a:lnSpc>
              <a:buNone/>
            </a:pPr>
            <a:endParaRPr lang="en-US"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737A1EA-5805-0771-FC78-F17C39CBC2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832" y="365125"/>
            <a:ext cx="1135539" cy="112364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58996351-E8D5-E124-DAEA-8CDA49BBD4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6773" y="365125"/>
            <a:ext cx="871295" cy="1117741"/>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How to Create an Online Food Ordering System?">
            <a:extLst>
              <a:ext uri="{FF2B5EF4-FFF2-40B4-BE49-F238E27FC236}">
                <a16:creationId xmlns:a16="http://schemas.microsoft.com/office/drawing/2014/main" id="{BAADC99B-9591-778E-C849-91A1D79188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50124" y="1708548"/>
            <a:ext cx="3087944" cy="3333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23176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4F257-8CCC-FC71-117F-436C91A57ED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METHODOLOGY OVERVIEW</a:t>
            </a:r>
          </a:p>
        </p:txBody>
      </p:sp>
      <p:sp>
        <p:nvSpPr>
          <p:cNvPr id="3" name="Content Placeholder 2">
            <a:extLst>
              <a:ext uri="{FF2B5EF4-FFF2-40B4-BE49-F238E27FC236}">
                <a16:creationId xmlns:a16="http://schemas.microsoft.com/office/drawing/2014/main" id="{17CC6579-2597-6EA4-2823-157B8E0F9C72}"/>
              </a:ext>
            </a:extLst>
          </p:cNvPr>
          <p:cNvSpPr>
            <a:spLocks noGrp="1"/>
          </p:cNvSpPr>
          <p:nvPr>
            <p:ph idx="1"/>
          </p:nvPr>
        </p:nvSpPr>
        <p:spPr>
          <a:xfrm>
            <a:off x="1405969" y="2141537"/>
            <a:ext cx="10515600" cy="4351338"/>
          </a:xfrm>
        </p:spPr>
        <p:txBody>
          <a:bodyPr>
            <a:normAutofit/>
          </a:bodyPr>
          <a:lstStyle/>
          <a:p>
            <a:pPr>
              <a:lnSpc>
                <a:spcPct val="150000"/>
              </a:lnSpc>
            </a:pPr>
            <a:r>
              <a:rPr lang="en-US" sz="2000" dirty="0">
                <a:latin typeface="Times New Roman" panose="02020603050405020304" pitchFamily="18" charset="0"/>
                <a:cs typeface="Times New Roman" panose="02020603050405020304" pitchFamily="18" charset="0"/>
              </a:rPr>
              <a:t>The food delivery system is developed using Object-Oriented Programming (OOP) methodology to ensure modularity and scalability. </a:t>
            </a:r>
          </a:p>
          <a:p>
            <a:pPr>
              <a:lnSpc>
                <a:spcPct val="150000"/>
              </a:lnSpc>
            </a:pPr>
            <a:r>
              <a:rPr lang="en-US" sz="2000" dirty="0">
                <a:latin typeface="Times New Roman" panose="02020603050405020304" pitchFamily="18" charset="0"/>
                <a:cs typeface="Times New Roman" panose="02020603050405020304" pitchFamily="18" charset="0"/>
              </a:rPr>
              <a:t>The process begins with system analysis to identify the key entities such as Restaurant, Menu, Customer, and Order. </a:t>
            </a:r>
          </a:p>
          <a:p>
            <a:pPr>
              <a:lnSpc>
                <a:spcPct val="150000"/>
              </a:lnSpc>
            </a:pPr>
            <a:r>
              <a:rPr lang="en-US" sz="2000" dirty="0">
                <a:latin typeface="Times New Roman" panose="02020603050405020304" pitchFamily="18" charset="0"/>
                <a:cs typeface="Times New Roman" panose="02020603050405020304" pitchFamily="18" charset="0"/>
              </a:rPr>
              <a:t>UML diagrams like use case, class, and sequence diagrams are designed using tools such as Umbrello UML Modeller to visualize the structure and interactions</a:t>
            </a:r>
            <a:r>
              <a:rPr lang="en-US" sz="2400" dirty="0">
                <a:latin typeface="Times New Roman" panose="02020603050405020304" pitchFamily="18" charset="0"/>
                <a:cs typeface="Times New Roman" panose="02020603050405020304" pitchFamily="18" charset="0"/>
              </a:rPr>
              <a:t>. </a:t>
            </a:r>
          </a:p>
        </p:txBody>
      </p:sp>
      <p:pic>
        <p:nvPicPr>
          <p:cNvPr id="4" name="Picture 3">
            <a:extLst>
              <a:ext uri="{FF2B5EF4-FFF2-40B4-BE49-F238E27FC236}">
                <a16:creationId xmlns:a16="http://schemas.microsoft.com/office/drawing/2014/main" id="{336AF87F-FE24-434F-F308-E1ACE84DF6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65125"/>
            <a:ext cx="1135539" cy="112364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7A317DEC-69E8-DC8E-DD6B-79E37EA8E5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6773" y="365125"/>
            <a:ext cx="871295" cy="11177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06896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36324-53B8-781A-6EB9-62D26ECE9ECD}"/>
              </a:ext>
            </a:extLst>
          </p:cNvPr>
          <p:cNvSpPr>
            <a:spLocks noGrp="1"/>
          </p:cNvSpPr>
          <p:nvPr>
            <p:ph type="title"/>
          </p:nvPr>
        </p:nvSpPr>
        <p:spPr/>
        <p:txBody>
          <a:bodyPr>
            <a:normAutofit/>
          </a:bodyPr>
          <a:lstStyle/>
          <a:p>
            <a:r>
              <a:rPr lang="en-US" sz="18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PROBLEM IDENTIFICATION &amp; ANALYSIS</a:t>
            </a:r>
          </a:p>
        </p:txBody>
      </p:sp>
      <p:sp>
        <p:nvSpPr>
          <p:cNvPr id="3" name="Content Placeholder 2">
            <a:extLst>
              <a:ext uri="{FF2B5EF4-FFF2-40B4-BE49-F238E27FC236}">
                <a16:creationId xmlns:a16="http://schemas.microsoft.com/office/drawing/2014/main" id="{7293BB08-8F7D-0C4A-76C3-66C4457DC818}"/>
              </a:ext>
            </a:extLst>
          </p:cNvPr>
          <p:cNvSpPr>
            <a:spLocks noGrp="1"/>
          </p:cNvSpPr>
          <p:nvPr>
            <p:ph idx="1"/>
          </p:nvPr>
        </p:nvSpPr>
        <p:spPr>
          <a:xfrm>
            <a:off x="838200" y="1569985"/>
            <a:ext cx="10515600" cy="4922889"/>
          </a:xfrm>
        </p:spPr>
        <p:txBody>
          <a:bodyPr>
            <a:normAutofit/>
          </a:bodyPr>
          <a:lstStyle/>
          <a:p>
            <a:pPr marL="0" indent="0">
              <a:buNone/>
            </a:pPr>
            <a:r>
              <a:rPr lang="en-US" sz="1800" dirty="0">
                <a:solidFill>
                  <a:srgbClr val="FF0000"/>
                </a:solidFill>
                <a:latin typeface="Times New Roman" panose="02020603050405020304" pitchFamily="18" charset="0"/>
                <a:cs typeface="Times New Roman" panose="02020603050405020304" pitchFamily="18" charset="0"/>
              </a:rPr>
              <a:t>DESCRIPTION OF THE PROBLEM:</a:t>
            </a:r>
          </a:p>
          <a:p>
            <a:pPr>
              <a:lnSpc>
                <a:spcPct val="150000"/>
              </a:lnSpc>
            </a:pPr>
            <a:r>
              <a:rPr lang="en-US" sz="1800" dirty="0">
                <a:latin typeface="Times New Roman" panose="02020603050405020304" pitchFamily="18" charset="0"/>
                <a:cs typeface="Times New Roman" panose="02020603050405020304" pitchFamily="18" charset="0"/>
              </a:rPr>
              <a:t>In the current scenario, many food delivery processes face challenges such as inefficient order management, lack of data integration between restaurants and customers, and difficulty in tracking payments and delivery status. </a:t>
            </a:r>
          </a:p>
          <a:p>
            <a:pPr>
              <a:lnSpc>
                <a:spcPct val="150000"/>
              </a:lnSpc>
            </a:pPr>
            <a:r>
              <a:rPr lang="en-US" sz="1800" dirty="0">
                <a:latin typeface="Times New Roman" panose="02020603050405020304" pitchFamily="18" charset="0"/>
                <a:cs typeface="Times New Roman" panose="02020603050405020304" pitchFamily="18" charset="0"/>
              </a:rPr>
              <a:t>Traditional systems often rely on manual operations, leading to errors, delays, and poor customer satisfaction</a:t>
            </a:r>
          </a:p>
          <a:p>
            <a:pPr marL="0" indent="0">
              <a:lnSpc>
                <a:spcPct val="150000"/>
              </a:lnSpc>
              <a:buNone/>
            </a:pPr>
            <a:r>
              <a:rPr lang="en-US" sz="1800" dirty="0">
                <a:solidFill>
                  <a:srgbClr val="FF0000"/>
                </a:solidFill>
                <a:latin typeface="Times New Roman" panose="02020603050405020304" pitchFamily="18" charset="0"/>
                <a:cs typeface="Times New Roman" panose="02020603050405020304" pitchFamily="18" charset="0"/>
              </a:rPr>
              <a:t>EVIDENCE OF THE PROBLEM:</a:t>
            </a:r>
          </a:p>
          <a:p>
            <a:pPr>
              <a:lnSpc>
                <a:spcPct val="150000"/>
              </a:lnSpc>
            </a:pPr>
            <a:r>
              <a:rPr lang="en-US" sz="1800" dirty="0">
                <a:latin typeface="Times New Roman" panose="02020603050405020304" pitchFamily="18" charset="0"/>
                <a:cs typeface="Times New Roman" panose="02020603050405020304" pitchFamily="18" charset="0"/>
              </a:rPr>
              <a:t>Recent studies and real-world observations show that many food delivery services struggle with order errors, delayed deliveries, and inefficient communication between customers and restaurants. </a:t>
            </a:r>
          </a:p>
          <a:p>
            <a:pPr>
              <a:lnSpc>
                <a:spcPct val="150000"/>
              </a:lnSpc>
            </a:pPr>
            <a:r>
              <a:rPr lang="en-US" sz="1800" dirty="0">
                <a:latin typeface="Times New Roman" panose="02020603050405020304" pitchFamily="18" charset="0"/>
                <a:cs typeface="Times New Roman" panose="02020603050405020304" pitchFamily="18" charset="0"/>
              </a:rPr>
              <a:t>Manual order tracking often leads to confusion, lost data, and poor customer experience.</a:t>
            </a:r>
            <a:endParaRPr lang="en-US" sz="1800"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895E105-D7EA-B174-A692-7D89D11367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65125"/>
            <a:ext cx="1135539" cy="112364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9753C795-4171-2024-AD8E-14EFB64BF8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6773" y="365125"/>
            <a:ext cx="871295" cy="11177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36679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F36AB-6604-3B8A-EEE8-51FF79E5168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4EDA616-B6F8-590B-1862-10597DD78E3A}"/>
              </a:ext>
            </a:extLst>
          </p:cNvPr>
          <p:cNvSpPr>
            <a:spLocks noChangeArrowheads="1"/>
          </p:cNvSpPr>
          <p:nvPr/>
        </p:nvSpPr>
        <p:spPr bwMode="auto">
          <a:xfrm>
            <a:off x="-65884" y="603694"/>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5" name="Picture 3">
            <a:extLst>
              <a:ext uri="{FF2B5EF4-FFF2-40B4-BE49-F238E27FC236}">
                <a16:creationId xmlns:a16="http://schemas.microsoft.com/office/drawing/2014/main" id="{30B3D2FB-78A6-D6EA-982C-7894917DF1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461" y="251939"/>
            <a:ext cx="1135539" cy="112364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AD2DBA31-1F3E-9D94-B299-69400CCE85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32244" y="254892"/>
            <a:ext cx="871295" cy="1117741"/>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7401AC6F-F038-54DE-6C96-82536F488EAD}"/>
              </a:ext>
            </a:extLst>
          </p:cNvPr>
          <p:cNvSpPr txBox="1"/>
          <p:nvPr/>
        </p:nvSpPr>
        <p:spPr>
          <a:xfrm>
            <a:off x="3048000" y="572303"/>
            <a:ext cx="6096000" cy="830997"/>
          </a:xfrm>
          <a:prstGeom prst="rect">
            <a:avLst/>
          </a:prstGeom>
          <a:noFill/>
        </p:spPr>
        <p:txBody>
          <a:bodyPr wrap="square">
            <a:spAutoFit/>
          </a:bodyPr>
          <a:lstStyle/>
          <a:p>
            <a:pPr algn="ctr"/>
            <a:r>
              <a:rPr lang="en-US" sz="4800" b="1" dirty="0">
                <a:ln w="0"/>
                <a:solidFill>
                  <a:schemeClr val="accent1"/>
                </a:solidFill>
                <a:effectLst>
                  <a:outerShdw blurRad="38100" dist="25400" dir="5400000" algn="ctr" rotWithShape="0">
                    <a:srgbClr val="6E747A">
                      <a:alpha val="43000"/>
                    </a:srgbClr>
                  </a:outerShdw>
                </a:effectLst>
                <a:latin typeface="Arial Black" panose="020B0A04020102020204" pitchFamily="34" charset="0"/>
                <a:cs typeface="Times New Roman" panose="02020603050405020304" pitchFamily="18" charset="0"/>
              </a:rPr>
              <a:t>MODULE 1</a:t>
            </a:r>
            <a:endParaRPr lang="en-IN" sz="4800" dirty="0"/>
          </a:p>
        </p:txBody>
      </p:sp>
      <p:sp>
        <p:nvSpPr>
          <p:cNvPr id="9" name="TextBox 8">
            <a:extLst>
              <a:ext uri="{FF2B5EF4-FFF2-40B4-BE49-F238E27FC236}">
                <a16:creationId xmlns:a16="http://schemas.microsoft.com/office/drawing/2014/main" id="{B026F790-9A50-2705-0D9D-26E6ED04A612}"/>
              </a:ext>
            </a:extLst>
          </p:cNvPr>
          <p:cNvSpPr txBox="1"/>
          <p:nvPr/>
        </p:nvSpPr>
        <p:spPr>
          <a:xfrm>
            <a:off x="2773722" y="1347045"/>
            <a:ext cx="6908800"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         Restaurant &amp; Menu management</a:t>
            </a:r>
          </a:p>
        </p:txBody>
      </p:sp>
      <p:sp>
        <p:nvSpPr>
          <p:cNvPr id="3" name="Subtitle 2">
            <a:extLst>
              <a:ext uri="{FF2B5EF4-FFF2-40B4-BE49-F238E27FC236}">
                <a16:creationId xmlns:a16="http://schemas.microsoft.com/office/drawing/2014/main" id="{2F50A419-3084-94F4-6287-ED1339204615}"/>
              </a:ext>
            </a:extLst>
          </p:cNvPr>
          <p:cNvSpPr>
            <a:spLocks noGrp="1"/>
          </p:cNvSpPr>
          <p:nvPr>
            <p:ph type="subTitle" idx="1"/>
          </p:nvPr>
        </p:nvSpPr>
        <p:spPr>
          <a:xfrm>
            <a:off x="1524000" y="2156416"/>
            <a:ext cx="9144000" cy="3387535"/>
          </a:xfrm>
        </p:spPr>
        <p:txBody>
          <a:bodyPr>
            <a:normAutofit/>
          </a:bodyPr>
          <a:lstStyle/>
          <a:p>
            <a:pPr marL="342900" indent="-342900" algn="l">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Restaurant and Menu Management involves organizing and maintaining details about different restaurants and their available dishes </a:t>
            </a:r>
          </a:p>
          <a:p>
            <a:pPr marL="342900" indent="-342900" algn="l">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Each restaurant has specific information such as name, location, contact details, and operating hours </a:t>
            </a:r>
          </a:p>
          <a:p>
            <a:pPr marL="342900" indent="-342900" algn="l">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The menu section stores items offered by the restaurant, including item names, prices, and descriptions. </a:t>
            </a:r>
          </a:p>
          <a:p>
            <a:pPr marL="342900" indent="-342900" algn="l">
              <a:lnSpc>
                <a:spcPct val="150000"/>
              </a:lnSpc>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0271766C-6C4C-F7CA-7ABB-C4B39C9BA989}"/>
              </a:ext>
            </a:extLst>
          </p:cNvPr>
          <p:cNvSpPr>
            <a:spLocks noChangeArrowheads="1"/>
          </p:cNvSpPr>
          <p:nvPr/>
        </p:nvSpPr>
        <p:spPr bwMode="auto">
          <a:xfrm>
            <a:off x="1524000" y="5181775"/>
            <a:ext cx="8239432" cy="960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Display menus to customers in real time.</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Track item availability and restaurant status (open/closed).</a:t>
            </a:r>
          </a:p>
        </p:txBody>
      </p:sp>
    </p:spTree>
    <p:extLst>
      <p:ext uri="{BB962C8B-B14F-4D97-AF65-F5344CB8AC3E}">
        <p14:creationId xmlns:p14="http://schemas.microsoft.com/office/powerpoint/2010/main" val="2513925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85401-1337-0DA4-9562-A5A3976872FC}"/>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0886C0F-B4AE-5A7C-B1DC-87497D022F00}"/>
              </a:ext>
            </a:extLst>
          </p:cNvPr>
          <p:cNvSpPr>
            <a:spLocks noGrp="1"/>
          </p:cNvSpPr>
          <p:nvPr>
            <p:ph type="subTitle" idx="1"/>
          </p:nvPr>
        </p:nvSpPr>
        <p:spPr>
          <a:xfrm>
            <a:off x="1124263" y="1518404"/>
            <a:ext cx="10675550" cy="4732493"/>
          </a:xfrm>
        </p:spPr>
        <p:txBody>
          <a:bodyPr>
            <a:normAutofit/>
          </a:bodyPr>
          <a:lstStyle/>
          <a:p>
            <a:pPr algn="l"/>
            <a:endParaRPr lang="en-IN" sz="2800" dirty="0">
              <a:solidFill>
                <a:srgbClr val="0070C0"/>
              </a:solidFill>
            </a:endParaRPr>
          </a:p>
          <a:p>
            <a:endParaRPr lang="en-US" sz="2800" dirty="0">
              <a:solidFill>
                <a:srgbClr val="0070C0"/>
              </a:solidFill>
            </a:endParaRPr>
          </a:p>
        </p:txBody>
      </p:sp>
      <p:sp>
        <p:nvSpPr>
          <p:cNvPr id="4" name="Rectangle 3">
            <a:extLst>
              <a:ext uri="{FF2B5EF4-FFF2-40B4-BE49-F238E27FC236}">
                <a16:creationId xmlns:a16="http://schemas.microsoft.com/office/drawing/2014/main" id="{A0AFC794-4F34-2914-D4AD-2C0012D1040A}"/>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TextBox 5">
            <a:extLst>
              <a:ext uri="{FF2B5EF4-FFF2-40B4-BE49-F238E27FC236}">
                <a16:creationId xmlns:a16="http://schemas.microsoft.com/office/drawing/2014/main" id="{F118BF37-9EBC-81AF-2099-4BCA679299E1}"/>
              </a:ext>
            </a:extLst>
          </p:cNvPr>
          <p:cNvSpPr txBox="1"/>
          <p:nvPr/>
        </p:nvSpPr>
        <p:spPr>
          <a:xfrm>
            <a:off x="2913380" y="261167"/>
            <a:ext cx="6111240" cy="830997"/>
          </a:xfrm>
          <a:prstGeom prst="rect">
            <a:avLst/>
          </a:prstGeom>
          <a:noFill/>
        </p:spPr>
        <p:txBody>
          <a:bodyPr wrap="square">
            <a:spAutoFit/>
          </a:bodyPr>
          <a:lstStyle/>
          <a:p>
            <a:pPr algn="ctr"/>
            <a:r>
              <a:rPr lang="en-US" sz="4800" b="1" dirty="0">
                <a:ln w="0"/>
                <a:solidFill>
                  <a:schemeClr val="accent1"/>
                </a:solidFill>
                <a:effectLst>
                  <a:outerShdw blurRad="38100" dist="25400" dir="5400000" algn="ctr" rotWithShape="0">
                    <a:srgbClr val="6E747A">
                      <a:alpha val="43000"/>
                    </a:srgbClr>
                  </a:outerShdw>
                </a:effectLst>
                <a:latin typeface="Arial Black" panose="020B0A04020102020204" pitchFamily="34" charset="0"/>
                <a:cs typeface="Times New Roman" panose="02020603050405020304" pitchFamily="18" charset="0"/>
              </a:rPr>
              <a:t>UML DIAGRAM</a:t>
            </a:r>
            <a:endParaRPr lang="en-IN" sz="4800" dirty="0"/>
          </a:p>
        </p:txBody>
      </p:sp>
      <p:pic>
        <p:nvPicPr>
          <p:cNvPr id="7" name="Picture 3">
            <a:extLst>
              <a:ext uri="{FF2B5EF4-FFF2-40B4-BE49-F238E27FC236}">
                <a16:creationId xmlns:a16="http://schemas.microsoft.com/office/drawing/2014/main" id="{4420BD83-78E8-9FA2-D1FD-13EB4C2472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461" y="251939"/>
            <a:ext cx="1135539" cy="112364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a:extLst>
              <a:ext uri="{FF2B5EF4-FFF2-40B4-BE49-F238E27FC236}">
                <a16:creationId xmlns:a16="http://schemas.microsoft.com/office/drawing/2014/main" id="{5EF4B8BF-0DA1-E3C7-2839-6ACCD31BE3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32244" y="254892"/>
            <a:ext cx="871295" cy="111774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3DDBD00-A2CD-9DB2-D1F6-B9B18CDBE5DE}"/>
              </a:ext>
            </a:extLst>
          </p:cNvPr>
          <p:cNvSpPr txBox="1"/>
          <p:nvPr/>
        </p:nvSpPr>
        <p:spPr>
          <a:xfrm>
            <a:off x="4445000" y="1137271"/>
            <a:ext cx="3302000"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USECASE DIAGRAM</a:t>
            </a:r>
          </a:p>
        </p:txBody>
      </p:sp>
      <p:pic>
        <p:nvPicPr>
          <p:cNvPr id="5" name="Picture 4">
            <a:extLst>
              <a:ext uri="{FF2B5EF4-FFF2-40B4-BE49-F238E27FC236}">
                <a16:creationId xmlns:a16="http://schemas.microsoft.com/office/drawing/2014/main" id="{ADE2FD32-C61E-644A-84F0-2431788682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02656" y="1741752"/>
            <a:ext cx="8024813" cy="4464844"/>
          </a:xfrm>
          <a:prstGeom prst="rect">
            <a:avLst/>
          </a:prstGeom>
        </p:spPr>
      </p:pic>
    </p:spTree>
    <p:extLst>
      <p:ext uri="{BB962C8B-B14F-4D97-AF65-F5344CB8AC3E}">
        <p14:creationId xmlns:p14="http://schemas.microsoft.com/office/powerpoint/2010/main" val="6309265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2F084-E2E8-6A2A-05C6-FC4393B0EEE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C72AB30-7D9E-4115-D5C1-0702619FEC1E}"/>
              </a:ext>
            </a:extLst>
          </p:cNvPr>
          <p:cNvSpPr>
            <a:spLocks noGrp="1"/>
          </p:cNvSpPr>
          <p:nvPr>
            <p:ph type="subTitle" idx="1"/>
          </p:nvPr>
        </p:nvSpPr>
        <p:spPr>
          <a:xfrm>
            <a:off x="1124263" y="1518404"/>
            <a:ext cx="10675550" cy="4732493"/>
          </a:xfrm>
        </p:spPr>
        <p:txBody>
          <a:bodyPr>
            <a:normAutofit/>
          </a:bodyPr>
          <a:lstStyle/>
          <a:p>
            <a:pPr algn="l"/>
            <a:endParaRPr lang="en-IN" sz="2800" dirty="0">
              <a:solidFill>
                <a:srgbClr val="0070C0"/>
              </a:solidFill>
            </a:endParaRPr>
          </a:p>
          <a:p>
            <a:endParaRPr lang="en-US" sz="2800" dirty="0">
              <a:solidFill>
                <a:srgbClr val="0070C0"/>
              </a:solidFill>
            </a:endParaRPr>
          </a:p>
        </p:txBody>
      </p:sp>
      <p:sp>
        <p:nvSpPr>
          <p:cNvPr id="4" name="Rectangle 3">
            <a:extLst>
              <a:ext uri="{FF2B5EF4-FFF2-40B4-BE49-F238E27FC236}">
                <a16:creationId xmlns:a16="http://schemas.microsoft.com/office/drawing/2014/main" id="{4E8F29C3-D891-C887-254B-E89D6E38909D}"/>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TextBox 5">
            <a:extLst>
              <a:ext uri="{FF2B5EF4-FFF2-40B4-BE49-F238E27FC236}">
                <a16:creationId xmlns:a16="http://schemas.microsoft.com/office/drawing/2014/main" id="{7EEF9D52-ED76-770D-BE78-D34404D52F61}"/>
              </a:ext>
            </a:extLst>
          </p:cNvPr>
          <p:cNvSpPr txBox="1"/>
          <p:nvPr/>
        </p:nvSpPr>
        <p:spPr>
          <a:xfrm>
            <a:off x="2913380" y="261167"/>
            <a:ext cx="6111240" cy="830997"/>
          </a:xfrm>
          <a:prstGeom prst="rect">
            <a:avLst/>
          </a:prstGeom>
          <a:noFill/>
        </p:spPr>
        <p:txBody>
          <a:bodyPr wrap="square">
            <a:spAutoFit/>
          </a:bodyPr>
          <a:lstStyle/>
          <a:p>
            <a:pPr algn="ctr"/>
            <a:r>
              <a:rPr lang="en-US" sz="4800" b="1" dirty="0">
                <a:ln w="0"/>
                <a:solidFill>
                  <a:schemeClr val="accent1"/>
                </a:solidFill>
                <a:effectLst>
                  <a:outerShdw blurRad="38100" dist="25400" dir="5400000" algn="ctr" rotWithShape="0">
                    <a:srgbClr val="6E747A">
                      <a:alpha val="43000"/>
                    </a:srgbClr>
                  </a:outerShdw>
                </a:effectLst>
                <a:latin typeface="Arial Black" panose="020B0A04020102020204" pitchFamily="34" charset="0"/>
                <a:cs typeface="Times New Roman" panose="02020603050405020304" pitchFamily="18" charset="0"/>
              </a:rPr>
              <a:t>UML DIAGRAM</a:t>
            </a:r>
            <a:endParaRPr lang="en-IN" sz="4800" dirty="0"/>
          </a:p>
        </p:txBody>
      </p:sp>
      <p:pic>
        <p:nvPicPr>
          <p:cNvPr id="7" name="Picture 3">
            <a:extLst>
              <a:ext uri="{FF2B5EF4-FFF2-40B4-BE49-F238E27FC236}">
                <a16:creationId xmlns:a16="http://schemas.microsoft.com/office/drawing/2014/main" id="{848834E4-A4F1-D1FB-A1CF-EDA7239471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461" y="251939"/>
            <a:ext cx="1135539" cy="112364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a:extLst>
              <a:ext uri="{FF2B5EF4-FFF2-40B4-BE49-F238E27FC236}">
                <a16:creationId xmlns:a16="http://schemas.microsoft.com/office/drawing/2014/main" id="{1CE0D615-92D5-F0AC-483D-5610152065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32244" y="254892"/>
            <a:ext cx="871295" cy="111774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6FF58B9-D95C-59CA-5C7E-8CE63B40151D}"/>
              </a:ext>
            </a:extLst>
          </p:cNvPr>
          <p:cNvSpPr txBox="1"/>
          <p:nvPr/>
        </p:nvSpPr>
        <p:spPr>
          <a:xfrm>
            <a:off x="2928620" y="1076187"/>
            <a:ext cx="6096000" cy="461665"/>
          </a:xfrm>
          <a:prstGeom prst="rect">
            <a:avLst/>
          </a:prstGeom>
          <a:noFill/>
        </p:spPr>
        <p:txBody>
          <a:bodyPr wrap="square">
            <a:spAutoFit/>
          </a:bodyPr>
          <a:lstStyle/>
          <a:p>
            <a:pPr algn="ctr"/>
            <a:r>
              <a:rPr lang="en-IN" sz="2400" b="1" dirty="0">
                <a:latin typeface="Times New Roman" panose="02020603050405020304" pitchFamily="18" charset="0"/>
                <a:cs typeface="Times New Roman" panose="02020603050405020304" pitchFamily="18" charset="0"/>
              </a:rPr>
              <a:t>CLASS DIAGRAM</a:t>
            </a:r>
          </a:p>
        </p:txBody>
      </p:sp>
      <p:pic>
        <p:nvPicPr>
          <p:cNvPr id="2" name="Picture 1">
            <a:extLst>
              <a:ext uri="{FF2B5EF4-FFF2-40B4-BE49-F238E27FC236}">
                <a16:creationId xmlns:a16="http://schemas.microsoft.com/office/drawing/2014/main" id="{DB59855F-585B-BCEB-A4B0-7A2BC10864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28620" y="1857376"/>
            <a:ext cx="6458290" cy="4908666"/>
          </a:xfrm>
          <a:prstGeom prst="rect">
            <a:avLst/>
          </a:prstGeom>
        </p:spPr>
      </p:pic>
    </p:spTree>
    <p:extLst>
      <p:ext uri="{BB962C8B-B14F-4D97-AF65-F5344CB8AC3E}">
        <p14:creationId xmlns:p14="http://schemas.microsoft.com/office/powerpoint/2010/main" val="32163819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B84EF-A5F3-E748-C5C0-E285C21CA7D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F25621A-2122-0381-EB96-DBD05CDB8BA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TextBox 5">
            <a:extLst>
              <a:ext uri="{FF2B5EF4-FFF2-40B4-BE49-F238E27FC236}">
                <a16:creationId xmlns:a16="http://schemas.microsoft.com/office/drawing/2014/main" id="{ACEDCE63-C518-C882-AFB7-D16E165EC108}"/>
              </a:ext>
            </a:extLst>
          </p:cNvPr>
          <p:cNvSpPr txBox="1"/>
          <p:nvPr/>
        </p:nvSpPr>
        <p:spPr>
          <a:xfrm>
            <a:off x="2913380" y="261167"/>
            <a:ext cx="6111240" cy="830997"/>
          </a:xfrm>
          <a:prstGeom prst="rect">
            <a:avLst/>
          </a:prstGeom>
          <a:noFill/>
        </p:spPr>
        <p:txBody>
          <a:bodyPr wrap="square">
            <a:spAutoFit/>
          </a:bodyPr>
          <a:lstStyle/>
          <a:p>
            <a:pPr algn="ctr"/>
            <a:r>
              <a:rPr lang="en-US" sz="4800" b="1" dirty="0">
                <a:ln w="0"/>
                <a:solidFill>
                  <a:schemeClr val="accent1"/>
                </a:solidFill>
                <a:effectLst>
                  <a:outerShdw blurRad="38100" dist="25400" dir="5400000" algn="ctr" rotWithShape="0">
                    <a:srgbClr val="6E747A">
                      <a:alpha val="43000"/>
                    </a:srgbClr>
                  </a:outerShdw>
                </a:effectLst>
                <a:latin typeface="Arial Black" panose="020B0A04020102020204" pitchFamily="34" charset="0"/>
                <a:cs typeface="Times New Roman" panose="02020603050405020304" pitchFamily="18" charset="0"/>
              </a:rPr>
              <a:t>MODULE 2</a:t>
            </a:r>
            <a:endParaRPr lang="en-IN" sz="4800" dirty="0"/>
          </a:p>
        </p:txBody>
      </p:sp>
      <p:pic>
        <p:nvPicPr>
          <p:cNvPr id="7" name="Picture 3">
            <a:extLst>
              <a:ext uri="{FF2B5EF4-FFF2-40B4-BE49-F238E27FC236}">
                <a16:creationId xmlns:a16="http://schemas.microsoft.com/office/drawing/2014/main" id="{8F72C864-ED55-A21C-68D2-576D0CBC71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461" y="251939"/>
            <a:ext cx="1135539" cy="112364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a:extLst>
              <a:ext uri="{FF2B5EF4-FFF2-40B4-BE49-F238E27FC236}">
                <a16:creationId xmlns:a16="http://schemas.microsoft.com/office/drawing/2014/main" id="{59B5A7BF-9C3F-2D9E-7E4B-B7DF5F0814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32244" y="254892"/>
            <a:ext cx="871295" cy="1117741"/>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65DF233B-66D2-AF07-736D-0A75F565CE08}"/>
              </a:ext>
            </a:extLst>
          </p:cNvPr>
          <p:cNvSpPr txBox="1"/>
          <p:nvPr/>
        </p:nvSpPr>
        <p:spPr>
          <a:xfrm>
            <a:off x="2387684" y="1052546"/>
            <a:ext cx="8544560"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            Customer &amp; Order Management</a:t>
            </a:r>
            <a:endParaRPr lang="en-IN" sz="1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AD6194E-88E6-9679-61D1-CBB4407AA351}"/>
              </a:ext>
            </a:extLst>
          </p:cNvPr>
          <p:cNvSpPr txBox="1"/>
          <p:nvPr/>
        </p:nvSpPr>
        <p:spPr>
          <a:xfrm>
            <a:off x="1818967" y="1967979"/>
            <a:ext cx="9419303" cy="378206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Customer and Order Management focuses on handling customer details and their food orders efficiently.</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Customer</a:t>
            </a:r>
            <a:r>
              <a:rPr lang="en-US" dirty="0">
                <a:latin typeface="Times New Roman" panose="02020603050405020304" pitchFamily="18" charset="0"/>
                <a:cs typeface="Times New Roman" panose="02020603050405020304" pitchFamily="18" charset="0"/>
              </a:rPr>
              <a:t> class stores information such as name, contact number, and delivery address, while the </a:t>
            </a:r>
            <a:r>
              <a:rPr lang="en-US" b="1" dirty="0">
                <a:latin typeface="Times New Roman" panose="02020603050405020304" pitchFamily="18" charset="0"/>
                <a:cs typeface="Times New Roman" panose="02020603050405020304" pitchFamily="18" charset="0"/>
              </a:rPr>
              <a:t>Order</a:t>
            </a:r>
            <a:r>
              <a:rPr lang="en-US" dirty="0">
                <a:latin typeface="Times New Roman" panose="02020603050405020304" pitchFamily="18" charset="0"/>
                <a:cs typeface="Times New Roman" panose="02020603050405020304" pitchFamily="18" charset="0"/>
              </a:rPr>
              <a:t> class records order items, quantities, prices, and payment details. </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ensures accurate processing, personalized service, and smooth coordination between customers, restaurants, and delivery agents.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system links each customer to their respective orders, enabling features like order tracking, payment verification, and order history.</a:t>
            </a:r>
          </a:p>
          <a:p>
            <a:pPr marL="285750" indent="-285750">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5F91FC9C-F536-7E9E-F903-CCE4EE7C4024}"/>
              </a:ext>
            </a:extLst>
          </p:cNvPr>
          <p:cNvSpPr>
            <a:spLocks noChangeArrowheads="1"/>
          </p:cNvSpPr>
          <p:nvPr/>
        </p:nvSpPr>
        <p:spPr bwMode="auto">
          <a:xfrm>
            <a:off x="1818967" y="5268681"/>
            <a:ext cx="6369564" cy="873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Maintain order history and generate bills or invoices.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Track order status (confirmed, prepared, dispatched, delivered).</a:t>
            </a:r>
          </a:p>
        </p:txBody>
      </p:sp>
    </p:spTree>
    <p:extLst>
      <p:ext uri="{BB962C8B-B14F-4D97-AF65-F5344CB8AC3E}">
        <p14:creationId xmlns:p14="http://schemas.microsoft.com/office/powerpoint/2010/main" val="27890202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B037D-3E7B-072C-2074-C8F59D61A4DD}"/>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                    USE CASE DIAGRAM</a:t>
            </a:r>
          </a:p>
        </p:txBody>
      </p:sp>
      <p:pic>
        <p:nvPicPr>
          <p:cNvPr id="4" name="Picture 3">
            <a:extLst>
              <a:ext uri="{FF2B5EF4-FFF2-40B4-BE49-F238E27FC236}">
                <a16:creationId xmlns:a16="http://schemas.microsoft.com/office/drawing/2014/main" id="{89A0438F-001B-A6A4-7209-2FAD3599AD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461" y="251939"/>
            <a:ext cx="1135539" cy="112364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8DBEDA0E-E587-B73A-B15B-A36D56FF9A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32244" y="254892"/>
            <a:ext cx="871295" cy="1117741"/>
          </a:xfrm>
          <a:prstGeom prst="rect">
            <a:avLst/>
          </a:prstGeom>
          <a:noFill/>
          <a:extLst>
            <a:ext uri="{909E8E84-426E-40DD-AFC4-6F175D3DCCD1}">
              <a14:hiddenFill xmlns:a14="http://schemas.microsoft.com/office/drawing/2010/main">
                <a:solidFill>
                  <a:srgbClr val="FFFFFF"/>
                </a:solidFill>
              </a14:hiddenFill>
            </a:ext>
          </a:extLst>
        </p:spPr>
      </p:pic>
      <p:pic>
        <p:nvPicPr>
          <p:cNvPr id="7" name="Content Placeholder 6">
            <a:extLst>
              <a:ext uri="{FF2B5EF4-FFF2-40B4-BE49-F238E27FC236}">
                <a16:creationId xmlns:a16="http://schemas.microsoft.com/office/drawing/2014/main" id="{C01D5EBE-F7BE-DB0F-C3CC-CBBC161E8492}"/>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2984429" y="1825625"/>
            <a:ext cx="6223142" cy="4351338"/>
          </a:xfrm>
          <a:prstGeom prst="rect">
            <a:avLst/>
          </a:prstGeom>
        </p:spPr>
      </p:pic>
    </p:spTree>
    <p:extLst>
      <p:ext uri="{BB962C8B-B14F-4D97-AF65-F5344CB8AC3E}">
        <p14:creationId xmlns:p14="http://schemas.microsoft.com/office/powerpoint/2010/main" val="40253826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6C2CF-5E72-BECB-90FE-134FE77321E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676883B-8BC8-B030-02B4-EE13C5278AA7}"/>
              </a:ext>
            </a:extLst>
          </p:cNvPr>
          <p:cNvSpPr>
            <a:spLocks noGrp="1"/>
          </p:cNvSpPr>
          <p:nvPr>
            <p:ph type="subTitle" idx="1"/>
          </p:nvPr>
        </p:nvSpPr>
        <p:spPr>
          <a:xfrm>
            <a:off x="1124263" y="1518404"/>
            <a:ext cx="10675550" cy="4732493"/>
          </a:xfrm>
        </p:spPr>
        <p:txBody>
          <a:bodyPr>
            <a:normAutofit/>
          </a:bodyPr>
          <a:lstStyle/>
          <a:p>
            <a:pPr algn="l"/>
            <a:endParaRPr lang="en-IN" sz="2800" dirty="0">
              <a:solidFill>
                <a:srgbClr val="0070C0"/>
              </a:solidFill>
            </a:endParaRPr>
          </a:p>
          <a:p>
            <a:endParaRPr lang="en-US" sz="2800" dirty="0">
              <a:solidFill>
                <a:srgbClr val="0070C0"/>
              </a:solidFill>
            </a:endParaRPr>
          </a:p>
        </p:txBody>
      </p:sp>
      <p:sp>
        <p:nvSpPr>
          <p:cNvPr id="4" name="Rectangle 3">
            <a:extLst>
              <a:ext uri="{FF2B5EF4-FFF2-40B4-BE49-F238E27FC236}">
                <a16:creationId xmlns:a16="http://schemas.microsoft.com/office/drawing/2014/main" id="{5603DBCA-E5A3-85ED-83E7-D4FF1D7A7D39}"/>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TextBox 5">
            <a:extLst>
              <a:ext uri="{FF2B5EF4-FFF2-40B4-BE49-F238E27FC236}">
                <a16:creationId xmlns:a16="http://schemas.microsoft.com/office/drawing/2014/main" id="{541AC756-5B2C-EA9E-05AE-D042FB9793B5}"/>
              </a:ext>
            </a:extLst>
          </p:cNvPr>
          <p:cNvSpPr txBox="1"/>
          <p:nvPr/>
        </p:nvSpPr>
        <p:spPr>
          <a:xfrm>
            <a:off x="3040380" y="229444"/>
            <a:ext cx="6111240" cy="830997"/>
          </a:xfrm>
          <a:prstGeom prst="rect">
            <a:avLst/>
          </a:prstGeom>
          <a:noFill/>
        </p:spPr>
        <p:txBody>
          <a:bodyPr wrap="square">
            <a:spAutoFit/>
          </a:bodyPr>
          <a:lstStyle/>
          <a:p>
            <a:pPr algn="ctr"/>
            <a:r>
              <a:rPr lang="en-US" sz="4800" b="1" dirty="0">
                <a:ln w="0"/>
                <a:solidFill>
                  <a:schemeClr val="accent1"/>
                </a:solidFill>
                <a:effectLst>
                  <a:outerShdw blurRad="38100" dist="25400" dir="5400000" algn="ctr" rotWithShape="0">
                    <a:srgbClr val="6E747A">
                      <a:alpha val="43000"/>
                    </a:srgbClr>
                  </a:outerShdw>
                </a:effectLst>
                <a:latin typeface="Arial Black" panose="020B0A04020102020204" pitchFamily="34" charset="0"/>
                <a:cs typeface="Times New Roman" panose="02020603050405020304" pitchFamily="18" charset="0"/>
              </a:rPr>
              <a:t>UML DIAGRAMS</a:t>
            </a:r>
            <a:endParaRPr lang="en-IN" sz="4800" dirty="0"/>
          </a:p>
        </p:txBody>
      </p:sp>
      <p:pic>
        <p:nvPicPr>
          <p:cNvPr id="7" name="Picture 3">
            <a:extLst>
              <a:ext uri="{FF2B5EF4-FFF2-40B4-BE49-F238E27FC236}">
                <a16:creationId xmlns:a16="http://schemas.microsoft.com/office/drawing/2014/main" id="{B7F96662-D1C8-68DA-601F-7CF3DC6756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461" y="251939"/>
            <a:ext cx="1135539" cy="112364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a:extLst>
              <a:ext uri="{FF2B5EF4-FFF2-40B4-BE49-F238E27FC236}">
                <a16:creationId xmlns:a16="http://schemas.microsoft.com/office/drawing/2014/main" id="{540F1EDC-DE12-E6EC-E3FE-CDC74079D7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32244" y="254892"/>
            <a:ext cx="871295" cy="111774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A40CDB0-DC0D-F9B3-8C38-64481A4D8DE0}"/>
              </a:ext>
            </a:extLst>
          </p:cNvPr>
          <p:cNvSpPr txBox="1"/>
          <p:nvPr/>
        </p:nvSpPr>
        <p:spPr>
          <a:xfrm>
            <a:off x="4428611" y="983853"/>
            <a:ext cx="3058160"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CLASS DIAGRAM</a:t>
            </a:r>
          </a:p>
        </p:txBody>
      </p:sp>
      <p:pic>
        <p:nvPicPr>
          <p:cNvPr id="5" name="Picture 4">
            <a:extLst>
              <a:ext uri="{FF2B5EF4-FFF2-40B4-BE49-F238E27FC236}">
                <a16:creationId xmlns:a16="http://schemas.microsoft.com/office/drawing/2014/main" id="{B3D17E8D-7C82-E677-C863-BE92941FD4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32000" y="1972171"/>
            <a:ext cx="8128000" cy="3917950"/>
          </a:xfrm>
          <a:prstGeom prst="rect">
            <a:avLst/>
          </a:prstGeom>
        </p:spPr>
      </p:pic>
    </p:spTree>
    <p:extLst>
      <p:ext uri="{BB962C8B-B14F-4D97-AF65-F5344CB8AC3E}">
        <p14:creationId xmlns:p14="http://schemas.microsoft.com/office/powerpoint/2010/main" val="11758476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91DCBF-CD50-BC4F-DE3F-CC98C1FBD3D2}"/>
              </a:ext>
            </a:extLst>
          </p:cNvPr>
          <p:cNvSpPr>
            <a:spLocks noGrp="1"/>
          </p:cNvSpPr>
          <p:nvPr>
            <p:ph idx="1"/>
          </p:nvPr>
        </p:nvSpPr>
        <p:spPr>
          <a:xfrm>
            <a:off x="1069170" y="1545282"/>
            <a:ext cx="10734369" cy="4351338"/>
          </a:xfrm>
        </p:spPr>
        <p:txBody>
          <a:bodyPr>
            <a:noAutofit/>
          </a:bodyPr>
          <a:lstStyle/>
          <a:p>
            <a:pPr marL="0" indent="0">
              <a:lnSpc>
                <a:spcPct val="160000"/>
              </a:lnSpc>
              <a:buNone/>
            </a:pPr>
            <a:r>
              <a:rPr lang="en-US" sz="1800" b="1" dirty="0">
                <a:latin typeface="Times New Roman" panose="02020603050405020304" pitchFamily="18" charset="0"/>
                <a:cs typeface="Times New Roman" panose="02020603050405020304" pitchFamily="18" charset="0"/>
              </a:rPr>
              <a:t>Development and Design Process:</a:t>
            </a:r>
          </a:p>
          <a:p>
            <a:pPr>
              <a:lnSpc>
                <a:spcPct val="150000"/>
              </a:lnSpc>
            </a:pPr>
            <a:r>
              <a:rPr lang="en-US" sz="1600" dirty="0">
                <a:latin typeface="Times New Roman" panose="02020603050405020304" pitchFamily="18" charset="0"/>
                <a:cs typeface="Times New Roman" panose="02020603050405020304" pitchFamily="18" charset="0"/>
              </a:rPr>
              <a:t>The development and design process involves applying OOP concepts to structure the system into modular components such as Restaurant, Menu, Customer, and Order classes. The system is designed using UML diagrams to represent class relationships and interactions.</a:t>
            </a:r>
          </a:p>
          <a:p>
            <a:pPr marL="0" indent="0">
              <a:lnSpc>
                <a:spcPct val="150000"/>
              </a:lnSpc>
              <a:buNone/>
            </a:pPr>
            <a:r>
              <a:rPr lang="en-US" sz="1800" b="1" dirty="0">
                <a:latin typeface="Times New Roman" panose="02020603050405020304" pitchFamily="18" charset="0"/>
                <a:cs typeface="Times New Roman" panose="02020603050405020304" pitchFamily="18" charset="0"/>
              </a:rPr>
              <a:t>Tools and Technologies Used:</a:t>
            </a:r>
            <a:endParaRPr lang="en-US" sz="1800" dirty="0">
              <a:latin typeface="Times New Roman" panose="02020603050405020304" pitchFamily="18" charset="0"/>
              <a:cs typeface="Times New Roman" panose="02020603050405020304" pitchFamily="18" charset="0"/>
            </a:endParaRPr>
          </a:p>
          <a:p>
            <a:pPr>
              <a:lnSpc>
                <a:spcPct val="150000"/>
              </a:lnSpc>
            </a:pPr>
            <a:r>
              <a:rPr lang="en-US" sz="1600" b="1" dirty="0">
                <a:latin typeface="Times New Roman" panose="02020603050405020304" pitchFamily="18" charset="0"/>
                <a:cs typeface="Times New Roman" panose="02020603050405020304" pitchFamily="18" charset="0"/>
              </a:rPr>
              <a:t>Programming Language:</a:t>
            </a:r>
            <a:r>
              <a:rPr lang="en-US" sz="1600" dirty="0">
                <a:latin typeface="Times New Roman" panose="02020603050405020304" pitchFamily="18" charset="0"/>
                <a:cs typeface="Times New Roman" panose="02020603050405020304" pitchFamily="18" charset="0"/>
              </a:rPr>
              <a:t> Python / Java / C++ (for implementing OOP concepts)</a:t>
            </a:r>
          </a:p>
          <a:p>
            <a:pPr>
              <a:lnSpc>
                <a:spcPct val="150000"/>
              </a:lnSpc>
            </a:pPr>
            <a:r>
              <a:rPr lang="en-US" sz="1600" b="1" dirty="0">
                <a:latin typeface="Times New Roman" panose="02020603050405020304" pitchFamily="18" charset="0"/>
                <a:cs typeface="Times New Roman" panose="02020603050405020304" pitchFamily="18" charset="0"/>
              </a:rPr>
              <a:t>Database:</a:t>
            </a:r>
            <a:r>
              <a:rPr lang="en-US" sz="1600" dirty="0">
                <a:latin typeface="Times New Roman" panose="02020603050405020304" pitchFamily="18" charset="0"/>
                <a:cs typeface="Times New Roman" panose="02020603050405020304" pitchFamily="18" charset="0"/>
              </a:rPr>
              <a:t> MySQL or SQLite (for storing restaurant, customer, and order data)</a:t>
            </a:r>
          </a:p>
          <a:p>
            <a:pPr>
              <a:lnSpc>
                <a:spcPct val="150000"/>
              </a:lnSpc>
            </a:pPr>
            <a:r>
              <a:rPr lang="en-US" sz="1600" b="1" dirty="0">
                <a:latin typeface="Times New Roman" panose="02020603050405020304" pitchFamily="18" charset="0"/>
                <a:cs typeface="Times New Roman" panose="02020603050405020304" pitchFamily="18" charset="0"/>
              </a:rPr>
              <a:t>Design Tools:</a:t>
            </a:r>
            <a:r>
              <a:rPr lang="en-US" sz="1600" dirty="0">
                <a:latin typeface="Times New Roman" panose="02020603050405020304" pitchFamily="18" charset="0"/>
                <a:cs typeface="Times New Roman" panose="02020603050405020304" pitchFamily="18" charset="0"/>
              </a:rPr>
              <a:t> UML diagrams using tools like StarUML or Lucidchart</a:t>
            </a:r>
          </a:p>
          <a:p>
            <a:pPr>
              <a:lnSpc>
                <a:spcPct val="150000"/>
              </a:lnSpc>
            </a:pPr>
            <a:r>
              <a:rPr lang="en-US" sz="1600" b="1" dirty="0">
                <a:latin typeface="Times New Roman" panose="02020603050405020304" pitchFamily="18" charset="0"/>
                <a:cs typeface="Times New Roman" panose="02020603050405020304" pitchFamily="18" charset="0"/>
              </a:rPr>
              <a:t>IDE:</a:t>
            </a:r>
            <a:r>
              <a:rPr lang="en-US" sz="1600" dirty="0">
                <a:latin typeface="Times New Roman" panose="02020603050405020304" pitchFamily="18" charset="0"/>
                <a:cs typeface="Times New Roman" panose="02020603050405020304" pitchFamily="18" charset="0"/>
              </a:rPr>
              <a:t> Visual Studio Code / Eclipse / PyCharm for coding and debugging</a:t>
            </a:r>
          </a:p>
          <a:p>
            <a:pPr>
              <a:lnSpc>
                <a:spcPct val="150000"/>
              </a:lnSpc>
            </a:pPr>
            <a:r>
              <a:rPr lang="en-US" sz="1600" b="1" dirty="0">
                <a:latin typeface="Times New Roman" panose="02020603050405020304" pitchFamily="18" charset="0"/>
                <a:cs typeface="Times New Roman" panose="02020603050405020304" pitchFamily="18" charset="0"/>
              </a:rPr>
              <a:t>Version Control:</a:t>
            </a:r>
            <a:r>
              <a:rPr lang="en-US" sz="1600" dirty="0">
                <a:latin typeface="Times New Roman" panose="02020603050405020304" pitchFamily="18" charset="0"/>
                <a:cs typeface="Times New Roman" panose="02020603050405020304" pitchFamily="18" charset="0"/>
              </a:rPr>
              <a:t> Git and GitHub for project management and collaboration</a:t>
            </a:r>
          </a:p>
          <a:p>
            <a:pPr>
              <a:lnSpc>
                <a:spcPct val="160000"/>
              </a:lnSpc>
            </a:pPr>
            <a:endParaRPr lang="en-US" sz="15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1C5E9AF-4814-A7E9-03FA-2EBFF21259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461" y="251939"/>
            <a:ext cx="1135539" cy="112364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5D4FC58E-655E-346A-B34B-549423BAA1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32244" y="254892"/>
            <a:ext cx="871295" cy="111774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0318257-EC8B-788D-E1CB-9B0ADFEDBF8B}"/>
              </a:ext>
            </a:extLst>
          </p:cNvPr>
          <p:cNvSpPr txBox="1"/>
          <p:nvPr/>
        </p:nvSpPr>
        <p:spPr>
          <a:xfrm>
            <a:off x="1986116" y="551469"/>
            <a:ext cx="8013291" cy="830997"/>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Development and Design Process – Tools and Technologies</a:t>
            </a:r>
          </a:p>
          <a:p>
            <a:endParaRPr lang="en-US" sz="2400" dirty="0"/>
          </a:p>
        </p:txBody>
      </p:sp>
    </p:spTree>
    <p:extLst>
      <p:ext uri="{BB962C8B-B14F-4D97-AF65-F5344CB8AC3E}">
        <p14:creationId xmlns:p14="http://schemas.microsoft.com/office/powerpoint/2010/main" val="12287439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B533D-FB4E-3777-E7C0-9705938BC197}"/>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           RESULT AND RECOMMENDATION</a:t>
            </a:r>
          </a:p>
        </p:txBody>
      </p:sp>
      <p:sp>
        <p:nvSpPr>
          <p:cNvPr id="3" name="Content Placeholder 2">
            <a:extLst>
              <a:ext uri="{FF2B5EF4-FFF2-40B4-BE49-F238E27FC236}">
                <a16:creationId xmlns:a16="http://schemas.microsoft.com/office/drawing/2014/main" id="{76D6D538-CC8F-F34C-20FB-3628BF75BEE2}"/>
              </a:ext>
            </a:extLst>
          </p:cNvPr>
          <p:cNvSpPr>
            <a:spLocks noGrp="1"/>
          </p:cNvSpPr>
          <p:nvPr>
            <p:ph idx="1"/>
          </p:nvPr>
        </p:nvSpPr>
        <p:spPr>
          <a:xfrm>
            <a:off x="1287939" y="1688545"/>
            <a:ext cx="10515600" cy="4804330"/>
          </a:xfrm>
        </p:spPr>
        <p:txBody>
          <a:bodyPr>
            <a:normAutofit/>
          </a:bodyPr>
          <a:lstStyle/>
          <a:p>
            <a:pPr marL="0" indent="0">
              <a:buNone/>
            </a:pPr>
            <a:r>
              <a:rPr lang="en-US" sz="2400" cap="all" dirty="0">
                <a:solidFill>
                  <a:srgbClr val="FF0000"/>
                </a:solidFill>
                <a:latin typeface="Times New Roman" panose="02020603050405020304" pitchFamily="18" charset="0"/>
                <a:cs typeface="Times New Roman" panose="02020603050405020304" pitchFamily="18" charset="0"/>
              </a:rPr>
              <a:t>Evaluation of Results:</a:t>
            </a:r>
          </a:p>
          <a:p>
            <a:pPr>
              <a:lnSpc>
                <a:spcPct val="150000"/>
              </a:lnSpc>
            </a:pPr>
            <a:r>
              <a:rPr lang="en-US" sz="1800" dirty="0">
                <a:latin typeface="Times New Roman" panose="02020603050405020304" pitchFamily="18" charset="0"/>
                <a:cs typeface="Times New Roman" panose="02020603050405020304" pitchFamily="18" charset="0"/>
              </a:rPr>
              <a:t>The system efficiently manages restaurants, menus, customers, and orders using OOP concepts.</a:t>
            </a:r>
          </a:p>
          <a:p>
            <a:pPr>
              <a:lnSpc>
                <a:spcPct val="150000"/>
              </a:lnSpc>
            </a:pPr>
            <a:r>
              <a:rPr lang="en-US" sz="1800" dirty="0">
                <a:latin typeface="Times New Roman" panose="02020603050405020304" pitchFamily="18" charset="0"/>
                <a:cs typeface="Times New Roman" panose="02020603050405020304" pitchFamily="18" charset="0"/>
              </a:rPr>
              <a:t>It ensures smooth order processing, accurate tracking, and secure payment handling.</a:t>
            </a:r>
          </a:p>
          <a:p>
            <a:pPr>
              <a:lnSpc>
                <a:spcPct val="150000"/>
              </a:lnSpc>
            </a:pPr>
            <a:r>
              <a:rPr lang="en-US" sz="1800" dirty="0">
                <a:latin typeface="Times New Roman" panose="02020603050405020304" pitchFamily="18" charset="0"/>
                <a:cs typeface="Times New Roman" panose="02020603050405020304" pitchFamily="18" charset="0"/>
              </a:rPr>
              <a:t>The design is scalable, maintainable, and easy to update for future enhancements.</a:t>
            </a:r>
          </a:p>
          <a:p>
            <a:pPr marL="0" indent="0">
              <a:buNone/>
            </a:pPr>
            <a:r>
              <a:rPr lang="en-US" sz="2400" dirty="0">
                <a:solidFill>
                  <a:srgbClr val="FF0000"/>
                </a:solidFill>
                <a:latin typeface="Times New Roman" panose="02020603050405020304" pitchFamily="18" charset="0"/>
                <a:cs typeface="Times New Roman" panose="02020603050405020304" pitchFamily="18" charset="0"/>
              </a:rPr>
              <a:t>CHALLENGES ENCOUNTERED:</a:t>
            </a:r>
          </a:p>
          <a:p>
            <a:pPr>
              <a:lnSpc>
                <a:spcPct val="150000"/>
              </a:lnSpc>
            </a:pPr>
            <a:r>
              <a:rPr lang="en-US" sz="2000" dirty="0">
                <a:latin typeface="Times New Roman" panose="02020603050405020304" pitchFamily="18" charset="0"/>
                <a:cs typeface="Times New Roman" panose="02020603050405020304" pitchFamily="18" charset="0"/>
              </a:rPr>
              <a:t>Designing a flexible system structure to handle multiple restaurants and dynamic menus.</a:t>
            </a:r>
          </a:p>
          <a:p>
            <a:pPr>
              <a:lnSpc>
                <a:spcPct val="150000"/>
              </a:lnSpc>
            </a:pPr>
            <a:r>
              <a:rPr lang="en-US" sz="2000" dirty="0">
                <a:latin typeface="Times New Roman" panose="02020603050405020304" pitchFamily="18" charset="0"/>
                <a:cs typeface="Times New Roman" panose="02020603050405020304" pitchFamily="18" charset="0"/>
              </a:rPr>
              <a:t>Ensuring accurate order tracking and payment processing without errors.</a:t>
            </a:r>
          </a:p>
          <a:p>
            <a:pPr>
              <a:lnSpc>
                <a:spcPct val="150000"/>
              </a:lnSpc>
            </a:pPr>
            <a:r>
              <a:rPr lang="en-US" sz="2000" dirty="0">
                <a:latin typeface="Times New Roman" panose="02020603050405020304" pitchFamily="18" charset="0"/>
                <a:cs typeface="Times New Roman" panose="02020603050405020304" pitchFamily="18" charset="0"/>
              </a:rPr>
              <a:t>Implementing OOP concepts correctly for reusable and maintainable code.</a:t>
            </a:r>
          </a:p>
          <a:p>
            <a:pPr marL="0" indent="0">
              <a:buNone/>
            </a:pPr>
            <a:endParaRPr lang="en-US" sz="2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6B1F094-CC9E-1C74-FF2D-7C8B5B6446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461" y="251939"/>
            <a:ext cx="1135539" cy="112364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C6A0D0A0-A3D8-7EE3-B5A0-9FD91DDD04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32244" y="254892"/>
            <a:ext cx="871295" cy="11177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02776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DA368-883C-2BA9-1EA3-A6812563945E}"/>
              </a:ext>
            </a:extLst>
          </p:cNvPr>
          <p:cNvSpPr>
            <a:spLocks noGrp="1"/>
          </p:cNvSpPr>
          <p:nvPr>
            <p:ph type="title"/>
          </p:nvPr>
        </p:nvSpPr>
        <p:spPr/>
        <p:txBody>
          <a:bodyPr/>
          <a:lstStyle/>
          <a:p>
            <a:r>
              <a:rPr lang="en-US" dirty="0"/>
              <a:t>         </a:t>
            </a:r>
            <a:r>
              <a:rPr lang="en-US" sz="2800" cap="all" dirty="0">
                <a:latin typeface="Times New Roman" panose="02020603050405020304" pitchFamily="18" charset="0"/>
                <a:cs typeface="Times New Roman" panose="02020603050405020304" pitchFamily="18" charset="0"/>
              </a:rPr>
              <a:t>Challenges Encountered and Overcome</a:t>
            </a:r>
            <a:endParaRPr lang="en-US" sz="3600" cap="all"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7EF8BBE-9384-309E-A151-FBBC5C5EF2C3}"/>
              </a:ext>
            </a:extLst>
          </p:cNvPr>
          <p:cNvSpPr>
            <a:spLocks noGrp="1"/>
          </p:cNvSpPr>
          <p:nvPr>
            <p:ph idx="1"/>
          </p:nvPr>
        </p:nvSpPr>
        <p:spPr/>
        <p:txBody>
          <a:bodyPr>
            <a:normAutofit/>
          </a:bodyPr>
          <a:lstStyle/>
          <a:p>
            <a:pPr marL="0" indent="0">
              <a:buNone/>
            </a:pPr>
            <a:r>
              <a:rPr lang="en-US" sz="2000" cap="all" dirty="0">
                <a:solidFill>
                  <a:srgbClr val="FF0000"/>
                </a:solidFill>
                <a:latin typeface="Times New Roman" panose="02020603050405020304" pitchFamily="18" charset="0"/>
                <a:cs typeface="Times New Roman" panose="02020603050405020304" pitchFamily="18" charset="0"/>
              </a:rPr>
              <a:t>Personal and Professional Growth:</a:t>
            </a:r>
          </a:p>
          <a:p>
            <a:pPr>
              <a:lnSpc>
                <a:spcPct val="150000"/>
              </a:lnSpc>
            </a:pPr>
            <a:r>
              <a:rPr lang="en-US" sz="1800" dirty="0">
                <a:latin typeface="Times New Roman" panose="02020603050405020304" pitchFamily="18" charset="0"/>
                <a:cs typeface="Times New Roman" panose="02020603050405020304" pitchFamily="18" charset="0"/>
              </a:rPr>
              <a:t>Improved understanding and practical application of Object-Oriented Programming concepts.</a:t>
            </a:r>
          </a:p>
          <a:p>
            <a:pPr>
              <a:lnSpc>
                <a:spcPct val="150000"/>
              </a:lnSpc>
            </a:pPr>
            <a:r>
              <a:rPr lang="en-US" sz="1800" dirty="0">
                <a:latin typeface="Times New Roman" panose="02020603050405020304" pitchFamily="18" charset="0"/>
                <a:cs typeface="Times New Roman" panose="02020603050405020304" pitchFamily="18" charset="0"/>
              </a:rPr>
              <a:t>Enhanced problem-solving, logical thinking, and system design skills.</a:t>
            </a:r>
          </a:p>
          <a:p>
            <a:pPr>
              <a:lnSpc>
                <a:spcPct val="150000"/>
              </a:lnSpc>
            </a:pPr>
            <a:r>
              <a:rPr lang="en-US" sz="1800" dirty="0">
                <a:latin typeface="Times New Roman" panose="02020603050405020304" pitchFamily="18" charset="0"/>
                <a:cs typeface="Times New Roman" panose="02020603050405020304" pitchFamily="18" charset="0"/>
              </a:rPr>
              <a:t>Gained experience in developing real-world software and managing project workflows professionally.</a:t>
            </a:r>
          </a:p>
          <a:p>
            <a:pPr marL="0" indent="0">
              <a:lnSpc>
                <a:spcPct val="150000"/>
              </a:lnSpc>
              <a:buNone/>
            </a:pPr>
            <a:r>
              <a:rPr lang="en-US" sz="1800" cap="all" dirty="0">
                <a:solidFill>
                  <a:srgbClr val="FF0000"/>
                </a:solidFill>
                <a:latin typeface="Times New Roman" panose="02020603050405020304" pitchFamily="18" charset="0"/>
                <a:cs typeface="Times New Roman" panose="02020603050405020304" pitchFamily="18" charset="0"/>
              </a:rPr>
              <a:t>Collaboration and Communication:</a:t>
            </a:r>
          </a:p>
          <a:p>
            <a:pPr>
              <a:lnSpc>
                <a:spcPct val="150000"/>
              </a:lnSpc>
            </a:pPr>
            <a:r>
              <a:rPr lang="en-US" sz="1800" dirty="0">
                <a:latin typeface="Times New Roman" panose="02020603050405020304" pitchFamily="18" charset="0"/>
                <a:cs typeface="Times New Roman" panose="02020603050405020304" pitchFamily="18" charset="0"/>
              </a:rPr>
              <a:t>Strengthened teamwork skills by coordinating tasks and sharing responsibilities effectively.</a:t>
            </a:r>
          </a:p>
          <a:p>
            <a:pPr>
              <a:lnSpc>
                <a:spcPct val="150000"/>
              </a:lnSpc>
            </a:pPr>
            <a:r>
              <a:rPr lang="en-US" sz="1800" dirty="0">
                <a:latin typeface="Times New Roman" panose="02020603050405020304" pitchFamily="18" charset="0"/>
                <a:cs typeface="Times New Roman" panose="02020603050405020304" pitchFamily="18" charset="0"/>
              </a:rPr>
              <a:t>Improved communication through regular updates, discussions, and feedback sessions.</a:t>
            </a:r>
          </a:p>
          <a:p>
            <a:pPr>
              <a:lnSpc>
                <a:spcPct val="150000"/>
              </a:lnSpc>
            </a:pPr>
            <a:r>
              <a:rPr lang="en-US" sz="1800" dirty="0">
                <a:latin typeface="Times New Roman" panose="02020603050405020304" pitchFamily="18" charset="0"/>
                <a:cs typeface="Times New Roman" panose="02020603050405020304" pitchFamily="18" charset="0"/>
              </a:rPr>
              <a:t>Learned to document and present ideas clearly for smooth project execution.</a:t>
            </a:r>
          </a:p>
          <a:p>
            <a:pPr marL="0" indent="0">
              <a:lnSpc>
                <a:spcPct val="150000"/>
              </a:lnSpc>
              <a:buNone/>
            </a:pPr>
            <a:endParaRPr lang="en-US" sz="1800" cap="all" dirty="0">
              <a:solidFill>
                <a:srgbClr val="FF0000"/>
              </a:solidFill>
              <a:latin typeface="Times New Roman" panose="02020603050405020304" pitchFamily="18" charset="0"/>
              <a:cs typeface="Times New Roman" panose="02020603050405020304" pitchFamily="18" charset="0"/>
            </a:endParaRPr>
          </a:p>
          <a:p>
            <a:pPr marL="0" indent="0">
              <a:buNone/>
            </a:pPr>
            <a:endParaRPr lang="en-US" sz="2000" cap="all"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A43754E-C363-4310-8228-2623F908CF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461" y="251939"/>
            <a:ext cx="1135539" cy="112364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CAFEBB77-7274-7BD0-5B1D-BB47DF17C7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32244" y="254892"/>
            <a:ext cx="871295" cy="11177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45290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DB09B-F3DD-EA65-EE67-5707AB5AF21F}"/>
              </a:ext>
            </a:extLst>
          </p:cNvPr>
          <p:cNvSpPr>
            <a:spLocks noGrp="1"/>
          </p:cNvSpPr>
          <p:nvPr>
            <p:ph type="title"/>
          </p:nvPr>
        </p:nvSpPr>
        <p:spPr/>
        <p:txBody>
          <a:bodyPr>
            <a:normAutofit/>
          </a:bodyPr>
          <a:lstStyle/>
          <a:p>
            <a:r>
              <a:rPr lang="en-US" sz="2400" dirty="0">
                <a:latin typeface="Times New Roman" panose="02020603050405020304" pitchFamily="18" charset="0"/>
                <a:cs typeface="Times New Roman" panose="02020603050405020304" pitchFamily="18" charset="0"/>
              </a:rPr>
              <a:t>                APPLICATION OF ENGINEERING </a:t>
            </a:r>
            <a:r>
              <a:rPr lang="en-US" sz="2400" cap="all" dirty="0">
                <a:latin typeface="Times New Roman" panose="02020603050405020304" pitchFamily="18" charset="0"/>
                <a:cs typeface="Times New Roman" panose="02020603050405020304" pitchFamily="18" charset="0"/>
              </a:rPr>
              <a:t>Ethical</a:t>
            </a:r>
            <a:r>
              <a:rPr lang="en-US" sz="2400" dirty="0">
                <a:latin typeface="Times New Roman" panose="02020603050405020304" pitchFamily="18" charset="0"/>
                <a:cs typeface="Times New Roman" panose="02020603050405020304" pitchFamily="18" charset="0"/>
              </a:rPr>
              <a:t> </a:t>
            </a:r>
            <a:r>
              <a:rPr lang="en-US" sz="2400" cap="all" dirty="0">
                <a:latin typeface="Times New Roman" panose="02020603050405020304" pitchFamily="18" charset="0"/>
                <a:cs typeface="Times New Roman" panose="02020603050405020304" pitchFamily="18" charset="0"/>
              </a:rPr>
              <a:t>Standards</a:t>
            </a:r>
          </a:p>
        </p:txBody>
      </p:sp>
      <p:sp>
        <p:nvSpPr>
          <p:cNvPr id="3" name="Content Placeholder 2">
            <a:extLst>
              <a:ext uri="{FF2B5EF4-FFF2-40B4-BE49-F238E27FC236}">
                <a16:creationId xmlns:a16="http://schemas.microsoft.com/office/drawing/2014/main" id="{1A2BF463-C322-9259-3932-1C5739775E76}"/>
              </a:ext>
            </a:extLst>
          </p:cNvPr>
          <p:cNvSpPr>
            <a:spLocks noGrp="1"/>
          </p:cNvSpPr>
          <p:nvPr>
            <p:ph idx="1"/>
          </p:nvPr>
        </p:nvSpPr>
        <p:spPr>
          <a:xfrm>
            <a:off x="838200" y="1482866"/>
            <a:ext cx="10515600" cy="2282890"/>
          </a:xfrm>
        </p:spPr>
        <p:txBody>
          <a:bodyPr>
            <a:normAutofit fontScale="25000" lnSpcReduction="20000"/>
          </a:bodyPr>
          <a:lstStyle/>
          <a:p>
            <a:pPr marL="0" indent="0">
              <a:buNone/>
            </a:pPr>
            <a:r>
              <a:rPr lang="en-US" cap="all" dirty="0">
                <a:solidFill>
                  <a:srgbClr val="FF0000"/>
                </a:solidFill>
                <a:latin typeface="Times New Roman" panose="02020603050405020304" pitchFamily="18" charset="0"/>
                <a:cs typeface="Times New Roman" panose="02020603050405020304" pitchFamily="18" charset="0"/>
              </a:rPr>
              <a:t>Engineering   Standards:</a:t>
            </a:r>
          </a:p>
          <a:p>
            <a:pPr>
              <a:lnSpc>
                <a:spcPct val="170000"/>
              </a:lnSpc>
            </a:pPr>
            <a:r>
              <a:rPr lang="en-US" sz="4800" b="1" dirty="0">
                <a:latin typeface="Times New Roman" panose="02020603050405020304" pitchFamily="18" charset="0"/>
                <a:cs typeface="Times New Roman" panose="02020603050405020304" pitchFamily="18" charset="0"/>
              </a:rPr>
              <a:t>ISO 9001:2015 (Quality Management Systems)</a:t>
            </a:r>
            <a:r>
              <a:rPr lang="en-US" sz="4800" dirty="0">
                <a:latin typeface="Times New Roman" panose="02020603050405020304" pitchFamily="18" charset="0"/>
                <a:cs typeface="Times New Roman" panose="02020603050405020304" pitchFamily="18" charset="0"/>
              </a:rPr>
              <a:t> – Ensures a systematic and well-structured validation process to maintain the accuracy, efficiency, and quality of the food delivery system modules.</a:t>
            </a:r>
          </a:p>
          <a:p>
            <a:pPr>
              <a:lnSpc>
                <a:spcPct val="170000"/>
              </a:lnSpc>
            </a:pPr>
            <a:r>
              <a:rPr lang="en-US" sz="4800" b="1" dirty="0">
                <a:latin typeface="Times New Roman" panose="02020603050405020304" pitchFamily="18" charset="0"/>
                <a:cs typeface="Times New Roman" panose="02020603050405020304" pitchFamily="18" charset="0"/>
              </a:rPr>
              <a:t>ISO 9001:2015 (Quality Management Systems)</a:t>
            </a:r>
            <a:r>
              <a:rPr lang="en-US" sz="4800" dirty="0">
                <a:latin typeface="Times New Roman" panose="02020603050405020304" pitchFamily="18" charset="0"/>
                <a:cs typeface="Times New Roman" panose="02020603050405020304" pitchFamily="18" charset="0"/>
              </a:rPr>
              <a:t> – Focuses on maintaining proper documentation for every stage of development to ensure reproducibility, traceability, and smooth auditing of processes.</a:t>
            </a:r>
          </a:p>
          <a:p>
            <a:pPr>
              <a:lnSpc>
                <a:spcPct val="170000"/>
              </a:lnSpc>
            </a:pPr>
            <a:r>
              <a:rPr lang="en-US" sz="4800" dirty="0">
                <a:latin typeface="Times New Roman" panose="02020603050405020304" pitchFamily="18" charset="0"/>
                <a:cs typeface="Times New Roman" panose="02020603050405020304" pitchFamily="18" charset="0"/>
              </a:rPr>
              <a:t>By following these standards, the project achieves </a:t>
            </a:r>
            <a:r>
              <a:rPr lang="en-US" sz="4800" b="1" dirty="0">
                <a:latin typeface="Times New Roman" panose="02020603050405020304" pitchFamily="18" charset="0"/>
                <a:cs typeface="Times New Roman" panose="02020603050405020304" pitchFamily="18" charset="0"/>
              </a:rPr>
              <a:t>reliable performance, improved consistency, and continuous quality improvement</a:t>
            </a:r>
            <a:r>
              <a:rPr lang="en-US" sz="4800" dirty="0">
                <a:latin typeface="Times New Roman" panose="02020603050405020304" pitchFamily="18" charset="0"/>
                <a:cs typeface="Times New Roman" panose="02020603050405020304" pitchFamily="18" charset="0"/>
              </a:rPr>
              <a:t>, ensuring professional engineering practices.</a:t>
            </a:r>
          </a:p>
          <a:p>
            <a:pPr marL="0" indent="0">
              <a:buNone/>
            </a:pPr>
            <a:endParaRPr lang="en-US" cap="all"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B793B57-21FE-6129-3394-38EBE7A95A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461" y="251939"/>
            <a:ext cx="1135539" cy="112364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9F331C3A-5E87-D71C-B704-06CA3824DA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32244" y="254892"/>
            <a:ext cx="871295" cy="111774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0C12DA3-69BA-E45B-9108-1BB42AC3756A}"/>
              </a:ext>
            </a:extLst>
          </p:cNvPr>
          <p:cNvSpPr txBox="1"/>
          <p:nvPr/>
        </p:nvSpPr>
        <p:spPr>
          <a:xfrm>
            <a:off x="838200" y="3654418"/>
            <a:ext cx="10515600" cy="2638992"/>
          </a:xfrm>
          <a:prstGeom prst="rect">
            <a:avLst/>
          </a:prstGeom>
          <a:noFill/>
        </p:spPr>
        <p:txBody>
          <a:bodyPr wrap="square" rtlCol="0">
            <a:spAutoFit/>
          </a:bodyPr>
          <a:lstStyle/>
          <a:p>
            <a:pPr>
              <a:lnSpc>
                <a:spcPct val="150000"/>
              </a:lnSpc>
            </a:pPr>
            <a:r>
              <a:rPr lang="en-US" sz="1400" dirty="0">
                <a:solidFill>
                  <a:srgbClr val="FF0000"/>
                </a:solidFill>
                <a:latin typeface="Times New Roman" panose="02020603050405020304" pitchFamily="18" charset="0"/>
                <a:cs typeface="Times New Roman" panose="02020603050405020304" pitchFamily="18" charset="0"/>
              </a:rPr>
              <a:t>ETHICAL STANDARDS:</a:t>
            </a:r>
          </a:p>
          <a:p>
            <a:pPr>
              <a:lnSpc>
                <a:spcPct val="150000"/>
              </a:lnSpc>
            </a:pPr>
            <a:r>
              <a:rPr lang="en-US" sz="1400" b="1" dirty="0">
                <a:latin typeface="Times New Roman" panose="02020603050405020304" pitchFamily="18" charset="0"/>
                <a:cs typeface="Times New Roman" panose="02020603050405020304" pitchFamily="18" charset="0"/>
              </a:rPr>
              <a:t>Safety and Transparency (IEEE 7.8.1, 7.8.2)</a:t>
            </a:r>
            <a:r>
              <a:rPr lang="en-US" sz="1400" dirty="0">
                <a:latin typeface="Times New Roman" panose="02020603050405020304" pitchFamily="18" charset="0"/>
                <a:cs typeface="Times New Roman" panose="02020603050405020304" pitchFamily="18" charset="0"/>
              </a:rPr>
              <a:t> – Ensures that all processes are carried out safely and transparently, minimizing risks and maintaining research integrity through reproducible and accountable practices.</a:t>
            </a:r>
          </a:p>
          <a:p>
            <a:pPr>
              <a:lnSpc>
                <a:spcPct val="150000"/>
              </a:lnSpc>
            </a:pPr>
            <a:r>
              <a:rPr lang="en-US" sz="1400" b="1" dirty="0">
                <a:latin typeface="Times New Roman" panose="02020603050405020304" pitchFamily="18" charset="0"/>
                <a:cs typeface="Times New Roman" panose="02020603050405020304" pitchFamily="18" charset="0"/>
              </a:rPr>
              <a:t>Responsible Use and Prevention of Harm (IEEE 7.8.5, ISO 26000)</a:t>
            </a:r>
            <a:r>
              <a:rPr lang="en-US" sz="1400" dirty="0">
                <a:latin typeface="Times New Roman" panose="02020603050405020304" pitchFamily="18" charset="0"/>
                <a:cs typeface="Times New Roman" panose="02020603050405020304" pitchFamily="18" charset="0"/>
              </a:rPr>
              <a:t> – Promotes ethical responsibility by preventing misuse or unethical applications, ensuring that the system is used strictly for authorized and beneficial purposes.</a:t>
            </a:r>
          </a:p>
          <a:p>
            <a:pPr>
              <a:lnSpc>
                <a:spcPct val="150000"/>
              </a:lnSpc>
            </a:pPr>
            <a:r>
              <a:rPr lang="en-US" sz="1400" b="1" dirty="0">
                <a:latin typeface="Times New Roman" panose="02020603050405020304" pitchFamily="18" charset="0"/>
                <a:cs typeface="Times New Roman" panose="02020603050405020304" pitchFamily="18" charset="0"/>
              </a:rPr>
              <a:t>Data Security and Quality Compliance (ISO 27001, ISO 9001)</a:t>
            </a:r>
            <a:r>
              <a:rPr lang="en-US" sz="1400" dirty="0">
                <a:latin typeface="Times New Roman" panose="02020603050405020304" pitchFamily="18" charset="0"/>
                <a:cs typeface="Times New Roman" panose="02020603050405020304" pitchFamily="18" charset="0"/>
              </a:rPr>
              <a:t> – Safeguards all stored data through secure handling and structured software development, ensuring reliability, efficiency, and protection against unauthorized access.</a:t>
            </a:r>
          </a:p>
          <a:p>
            <a:pPr>
              <a:lnSpc>
                <a:spcPct val="150000"/>
              </a:lnSpc>
            </a:pPr>
            <a:endParaRPr lang="en-US" sz="14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81224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8115C-ED82-1150-E4CD-06A0275CF6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9797F9-EE73-ECD4-6180-CB8E879B40CA}"/>
              </a:ext>
            </a:extLst>
          </p:cNvPr>
          <p:cNvSpPr>
            <a:spLocks noGrp="1"/>
          </p:cNvSpPr>
          <p:nvPr>
            <p:ph type="ctrTitle"/>
          </p:nvPr>
        </p:nvSpPr>
        <p:spPr>
          <a:xfrm>
            <a:off x="1524000" y="228600"/>
            <a:ext cx="9144000" cy="1096547"/>
          </a:xfrm>
        </p:spPr>
        <p:txBody>
          <a:bodyPr>
            <a:normAutofit/>
          </a:bodyPr>
          <a:lstStyle/>
          <a:p>
            <a:r>
              <a:rPr lang="en-US" sz="4800" b="1" dirty="0">
                <a:ln w="0"/>
                <a:solidFill>
                  <a:schemeClr val="accent1"/>
                </a:solidFill>
                <a:effectLst>
                  <a:outerShdw blurRad="38100" dist="25400" dir="5400000" algn="ctr" rotWithShape="0">
                    <a:srgbClr val="6E747A">
                      <a:alpha val="43000"/>
                    </a:srgbClr>
                  </a:outerShdw>
                </a:effectLst>
                <a:latin typeface="Arial Black" panose="020B0A04020102020204" pitchFamily="34" charset="0"/>
                <a:cs typeface="Times New Roman" panose="02020603050405020304" pitchFamily="18" charset="0"/>
              </a:rPr>
              <a:t>REFERENCES</a:t>
            </a:r>
            <a:endParaRPr lang="en-US" sz="4800" dirty="0">
              <a:solidFill>
                <a:srgbClr val="FF0000"/>
              </a:solidFill>
            </a:endParaRPr>
          </a:p>
        </p:txBody>
      </p:sp>
      <p:sp>
        <p:nvSpPr>
          <p:cNvPr id="4" name="Rectangle 3">
            <a:extLst>
              <a:ext uri="{FF2B5EF4-FFF2-40B4-BE49-F238E27FC236}">
                <a16:creationId xmlns:a16="http://schemas.microsoft.com/office/drawing/2014/main" id="{8887632A-0DBE-7901-3AB0-7DBBA8238F98}"/>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5" name="Picture 3">
            <a:extLst>
              <a:ext uri="{FF2B5EF4-FFF2-40B4-BE49-F238E27FC236}">
                <a16:creationId xmlns:a16="http://schemas.microsoft.com/office/drawing/2014/main" id="{B5F570B9-17C1-0B91-B370-F5C2B76246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461" y="251939"/>
            <a:ext cx="1135539" cy="112364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EF565D34-0B83-D6DA-129E-5E5A6E8B8A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32244" y="254892"/>
            <a:ext cx="871295" cy="1117741"/>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1">
            <a:extLst>
              <a:ext uri="{FF2B5EF4-FFF2-40B4-BE49-F238E27FC236}">
                <a16:creationId xmlns:a16="http://schemas.microsoft.com/office/drawing/2014/main" id="{A0087BCC-4BCD-F7AB-733C-76B6909C4706}"/>
              </a:ext>
            </a:extLst>
          </p:cNvPr>
          <p:cNvSpPr>
            <a:spLocks noChangeArrowheads="1"/>
          </p:cNvSpPr>
          <p:nvPr/>
        </p:nvSpPr>
        <p:spPr bwMode="auto">
          <a:xfrm>
            <a:off x="2153920" y="2599195"/>
            <a:ext cx="7884160" cy="561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9" name="Rectangle 2">
            <a:extLst>
              <a:ext uri="{FF2B5EF4-FFF2-40B4-BE49-F238E27FC236}">
                <a16:creationId xmlns:a16="http://schemas.microsoft.com/office/drawing/2014/main" id="{D552A732-DD47-20A7-4184-E21D35FB3956}"/>
              </a:ext>
            </a:extLst>
          </p:cNvPr>
          <p:cNvSpPr>
            <a:spLocks noChangeArrowheads="1"/>
          </p:cNvSpPr>
          <p:nvPr/>
        </p:nvSpPr>
        <p:spPr bwMode="auto">
          <a:xfrm>
            <a:off x="1152286" y="1372633"/>
            <a:ext cx="10651253" cy="52187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Grady Booch, “</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Object-Oriented Analysis and Design with Applications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Addison-Wesley, 3rd Edition, 2007.</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Robert Lafore, “</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Object-Oriented Programming in C++</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Sams Publishing, 4th Edition, 2002.</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Herbert Schildt, “</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Java: The Complete Reference</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McGraw-Hill, 11th Edition, 2019.</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Ian Sommerville, “</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Software Engineering</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Pearson Education, 10th Edition, 2015.</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ISO 9001:2015, </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Quality Management Systems — Requirements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International Organization for Standardization, 2015.</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IEEE Standard 830-1998, </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IEEE Recommended Practice for Software Requirements Specifications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IEEE Computer Society, 1998.</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Martin Fowler, “</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UML Distilled: A Brief Guide to the Standard Object Modeling Language</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Addison-Wesley, 3rd Edition, 2004.</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“Online Food Delivery System Using OOP Concepts,” </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International Journal of Computer Applications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Vol. 182, No. 21, 2023.</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of Indian Standards (BIS), </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Software System and Documentation Standards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Government of India, 2020.</a:t>
            </a:r>
          </a:p>
          <a:p>
            <a:pPr lvl="0" eaLnBrk="0" fontAlgn="base" hangingPunct="0">
              <a:lnSpc>
                <a:spcPct val="150000"/>
              </a:lnSpc>
              <a:spcBef>
                <a:spcPct val="0"/>
              </a:spcBef>
              <a:spcAft>
                <a:spcPct val="0"/>
              </a:spcAft>
              <a:buFontTx/>
              <a:buChar char="•"/>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lang="en-US" altLang="en-US" sz="1600" dirty="0">
                <a:latin typeface="Times New Roman" panose="02020603050405020304" pitchFamily="18" charset="0"/>
                <a:cs typeface="Times New Roman" panose="02020603050405020304" pitchFamily="18" charset="0"/>
              </a:rPr>
              <a:t>Bureau </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Design and Implementation of Online Food Ordering System,” </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International Research Journal of Engineering and Technology (IRJET)</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Vol. 9, Issue 4, 2022.</a:t>
            </a:r>
          </a:p>
        </p:txBody>
      </p:sp>
    </p:spTree>
    <p:extLst>
      <p:ext uri="{BB962C8B-B14F-4D97-AF65-F5344CB8AC3E}">
        <p14:creationId xmlns:p14="http://schemas.microsoft.com/office/powerpoint/2010/main" val="32846151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C185C-BEC8-C8B4-E43D-84232D133090}"/>
              </a:ext>
            </a:extLst>
          </p:cNvPr>
          <p:cNvSpPr>
            <a:spLocks noGrp="1"/>
          </p:cNvSpPr>
          <p:nvPr>
            <p:ph type="title"/>
          </p:nvPr>
        </p:nvSpPr>
        <p:spPr/>
        <p:txBody>
          <a:bodyPr/>
          <a:lstStyle/>
          <a:p>
            <a:r>
              <a:rPr lang="en-US" dirty="0"/>
              <a:t>         </a:t>
            </a:r>
            <a:r>
              <a:rPr lang="en-US" sz="2800" cap="all" dirty="0">
                <a:latin typeface="Times New Roman" panose="02020603050405020304" pitchFamily="18" charset="0"/>
                <a:cs typeface="Times New Roman" panose="02020603050405020304" pitchFamily="18" charset="0"/>
              </a:rPr>
              <a:t>conclusion and Future enhancements</a:t>
            </a:r>
            <a:endParaRPr lang="en-US" cap="all"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EFCE0E5-4760-0C26-F989-0A48B94863B1}"/>
              </a:ext>
            </a:extLst>
          </p:cNvPr>
          <p:cNvSpPr>
            <a:spLocks noGrp="1"/>
          </p:cNvSpPr>
          <p:nvPr>
            <p:ph idx="1"/>
          </p:nvPr>
        </p:nvSpPr>
        <p:spPr>
          <a:xfrm>
            <a:off x="1063070" y="1690688"/>
            <a:ext cx="10515600" cy="4351338"/>
          </a:xfrm>
        </p:spPr>
        <p:txBody>
          <a:bodyPr>
            <a:normAutofit fontScale="62500" lnSpcReduction="20000"/>
          </a:bodyPr>
          <a:lstStyle/>
          <a:p>
            <a:pPr marL="0" indent="0">
              <a:buNone/>
            </a:pPr>
            <a:r>
              <a:rPr lang="en-US" b="1" dirty="0">
                <a:solidFill>
                  <a:srgbClr val="FF0000"/>
                </a:solidFill>
                <a:latin typeface="Times New Roman" panose="02020603050405020304" pitchFamily="18" charset="0"/>
                <a:cs typeface="Times New Roman" panose="02020603050405020304" pitchFamily="18" charset="0"/>
              </a:rPr>
              <a:t>Conclusion</a:t>
            </a:r>
          </a:p>
          <a:p>
            <a:pPr>
              <a:lnSpc>
                <a:spcPct val="170000"/>
              </a:lnSpc>
            </a:pPr>
            <a:r>
              <a:rPr lang="en-US" dirty="0">
                <a:latin typeface="Times New Roman" panose="02020603050405020304" pitchFamily="18" charset="0"/>
                <a:cs typeface="Times New Roman" panose="02020603050405020304" pitchFamily="18" charset="0"/>
              </a:rPr>
              <a:t>Engineering and ethical standards ensure safety, quality, and professionalism in all fields.</a:t>
            </a:r>
          </a:p>
          <a:p>
            <a:pPr>
              <a:lnSpc>
                <a:spcPct val="170000"/>
              </a:lnSpc>
            </a:pPr>
            <a:r>
              <a:rPr lang="en-US" dirty="0">
                <a:latin typeface="Times New Roman" panose="02020603050405020304" pitchFamily="18" charset="0"/>
                <a:cs typeface="Times New Roman" panose="02020603050405020304" pitchFamily="18" charset="0"/>
              </a:rPr>
              <a:t>They provide guidelines for consistency and reliability, reducing errors and risks.</a:t>
            </a:r>
          </a:p>
          <a:p>
            <a:pPr>
              <a:lnSpc>
                <a:spcPct val="170000"/>
              </a:lnSpc>
            </a:pPr>
            <a:r>
              <a:rPr lang="en-US" dirty="0">
                <a:latin typeface="Times New Roman" panose="02020603050405020304" pitchFamily="18" charset="0"/>
                <a:cs typeface="Times New Roman" panose="02020603050405020304" pitchFamily="18" charset="0"/>
              </a:rPr>
              <a:t>Adherence to standards builds trust, accountability, and efficiency in industries and organizations.</a:t>
            </a:r>
          </a:p>
          <a:p>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marL="0" indent="0">
              <a:buNone/>
            </a:pPr>
            <a:r>
              <a:rPr lang="en-US" b="1" dirty="0">
                <a:solidFill>
                  <a:srgbClr val="FF0000"/>
                </a:solidFill>
                <a:latin typeface="Times New Roman" panose="02020603050405020304" pitchFamily="18" charset="0"/>
                <a:cs typeface="Times New Roman" panose="02020603050405020304" pitchFamily="18" charset="0"/>
              </a:rPr>
              <a:t>Future Enhancements</a:t>
            </a:r>
          </a:p>
          <a:p>
            <a:pPr>
              <a:lnSpc>
                <a:spcPct val="170000"/>
              </a:lnSpc>
            </a:pPr>
            <a:r>
              <a:rPr lang="en-US" dirty="0">
                <a:latin typeface="Times New Roman" panose="02020603050405020304" pitchFamily="18" charset="0"/>
                <a:cs typeface="Times New Roman" panose="02020603050405020304" pitchFamily="18" charset="0"/>
              </a:rPr>
              <a:t>Update standards regularly to keep pace with technological advancements and new materials.</a:t>
            </a:r>
          </a:p>
          <a:p>
            <a:pPr>
              <a:lnSpc>
                <a:spcPct val="170000"/>
              </a:lnSpc>
            </a:pPr>
            <a:r>
              <a:rPr lang="en-US" dirty="0">
                <a:latin typeface="Times New Roman" panose="02020603050405020304" pitchFamily="18" charset="0"/>
                <a:cs typeface="Times New Roman" panose="02020603050405020304" pitchFamily="18" charset="0"/>
              </a:rPr>
              <a:t>Integrate digital tools and AI for monitoring compliance and improving efficiency.</a:t>
            </a:r>
          </a:p>
          <a:p>
            <a:pPr>
              <a:lnSpc>
                <a:spcPct val="170000"/>
              </a:lnSpc>
            </a:pPr>
            <a:r>
              <a:rPr lang="en-US" dirty="0">
                <a:latin typeface="Times New Roman" panose="02020603050405020304" pitchFamily="18" charset="0"/>
                <a:cs typeface="Times New Roman" panose="02020603050405020304" pitchFamily="18" charset="0"/>
              </a:rPr>
              <a:t>Expand global collaboration to harmonize standards and ensure interoperability across countries.</a:t>
            </a:r>
          </a:p>
          <a:p>
            <a:pPr marL="0" indent="0">
              <a:buNone/>
            </a:pPr>
            <a:endParaRPr lang="en-US"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181BE8D-8F73-C55B-1F39-D039D673E8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461" y="251939"/>
            <a:ext cx="1135539" cy="112364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6F5AB5E3-CC61-09D5-D577-A3564BDC7B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32244" y="254892"/>
            <a:ext cx="871295" cy="11177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76386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9B67B-90C2-C31E-E013-65829CFE30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D3C476-15EC-E2C5-C621-57873B86198E}"/>
              </a:ext>
            </a:extLst>
          </p:cNvPr>
          <p:cNvSpPr>
            <a:spLocks noGrp="1"/>
          </p:cNvSpPr>
          <p:nvPr>
            <p:ph type="ctrTitle"/>
          </p:nvPr>
        </p:nvSpPr>
        <p:spPr>
          <a:xfrm>
            <a:off x="1404078" y="2788103"/>
            <a:ext cx="9144000" cy="1096547"/>
          </a:xfrm>
        </p:spPr>
        <p:txBody>
          <a:bodyPr>
            <a:normAutofit/>
          </a:bodyPr>
          <a:lstStyle/>
          <a:p>
            <a:r>
              <a:rPr lang="en-IN" sz="7200" dirty="0">
                <a:solidFill>
                  <a:srgbClr val="FF0000"/>
                </a:solidFill>
                <a:latin typeface="Times New Roman" panose="02020603050405020304" pitchFamily="18" charset="0"/>
                <a:cs typeface="Times New Roman" panose="02020603050405020304" pitchFamily="18" charset="0"/>
              </a:rPr>
              <a:t>Thank You</a:t>
            </a:r>
            <a:endParaRPr lang="en-US" sz="7200" dirty="0">
              <a:solidFill>
                <a:srgbClr val="FF000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BD08104A-8AFD-09B7-2608-76545927ADF6}"/>
              </a:ext>
            </a:extLst>
          </p:cNvPr>
          <p:cNvSpPr>
            <a:spLocks noGrp="1"/>
          </p:cNvSpPr>
          <p:nvPr>
            <p:ph type="subTitle" idx="1"/>
          </p:nvPr>
        </p:nvSpPr>
        <p:spPr>
          <a:xfrm>
            <a:off x="1880710" y="3676586"/>
            <a:ext cx="8636888" cy="4732493"/>
          </a:xfrm>
        </p:spPr>
        <p:txBody>
          <a:bodyPr>
            <a:normAutofit/>
          </a:bodyPr>
          <a:lstStyle/>
          <a:p>
            <a:r>
              <a:rPr lang="en-US" sz="4000" dirty="0">
                <a:solidFill>
                  <a:srgbClr val="0070C0"/>
                </a:solidFill>
                <a:latin typeface="Times New Roman" panose="02020603050405020304" pitchFamily="18" charset="0"/>
                <a:cs typeface="Times New Roman" panose="02020603050405020304" pitchFamily="18" charset="0"/>
              </a:rPr>
              <a:t>Query Please</a:t>
            </a:r>
          </a:p>
        </p:txBody>
      </p:sp>
      <p:sp>
        <p:nvSpPr>
          <p:cNvPr id="4" name="Rectangle 3">
            <a:extLst>
              <a:ext uri="{FF2B5EF4-FFF2-40B4-BE49-F238E27FC236}">
                <a16:creationId xmlns:a16="http://schemas.microsoft.com/office/drawing/2014/main" id="{B5AF203F-5EB1-69DA-FE2F-574BB00193C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5" name="Picture 3">
            <a:extLst>
              <a:ext uri="{FF2B5EF4-FFF2-40B4-BE49-F238E27FC236}">
                <a16:creationId xmlns:a16="http://schemas.microsoft.com/office/drawing/2014/main" id="{5CEE0C1E-A0C4-AB9F-AABC-D6A48A9A1F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461" y="251939"/>
            <a:ext cx="1135539" cy="112364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2E571222-D4D4-D77A-6AA0-38E1A372D9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32244" y="254892"/>
            <a:ext cx="871295" cy="11177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28583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871</TotalTime>
  <Words>1487</Words>
  <Application>Microsoft Office PowerPoint</Application>
  <PresentationFormat>Widescreen</PresentationFormat>
  <Paragraphs>127</Paragraphs>
  <Slides>19</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Aptos</vt:lpstr>
      <vt:lpstr>Arial</vt:lpstr>
      <vt:lpstr>Arial Black</vt:lpstr>
      <vt:lpstr>Calibri</vt:lpstr>
      <vt:lpstr>Calibri Light</vt:lpstr>
      <vt:lpstr>Times New Roman</vt:lpstr>
      <vt:lpstr>Wingdings</vt:lpstr>
      <vt:lpstr>Office Theme</vt:lpstr>
      <vt:lpstr>SIMATS ENGINEERING</vt:lpstr>
      <vt:lpstr>ABSTRACT</vt:lpstr>
      <vt:lpstr>INTRODUCTION</vt:lpstr>
      <vt:lpstr>P        </vt:lpstr>
      <vt:lpstr>            METHODOLOGY OVERVIEW</vt:lpstr>
      <vt:lpstr>                                           PROBLEM IDENTIFICATION &amp; ANALYSIS</vt:lpstr>
      <vt:lpstr>PowerPoint Presentation</vt:lpstr>
      <vt:lpstr>PowerPoint Presentation</vt:lpstr>
      <vt:lpstr>PowerPoint Presentation</vt:lpstr>
      <vt:lpstr>PowerPoint Presentation</vt:lpstr>
      <vt:lpstr>                    USE CASE DIAGRAM</vt:lpstr>
      <vt:lpstr>PowerPoint Presentation</vt:lpstr>
      <vt:lpstr>PowerPoint Presentation</vt:lpstr>
      <vt:lpstr>           RESULT AND RECOMMENDATION</vt:lpstr>
      <vt:lpstr>         Challenges Encountered and Overcome</vt:lpstr>
      <vt:lpstr>                APPLICATION OF ENGINEERING Ethical Standards</vt:lpstr>
      <vt:lpstr>REFERENCES</vt:lpstr>
      <vt:lpstr>         conclusion and Future enhancements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SIMATS ENGINEERING</dc:title>
  <dc:creator>Rajesh kumar Thevasigamani</dc:creator>
  <cp:lastModifiedBy>haihara prasath</cp:lastModifiedBy>
  <cp:revision>10</cp:revision>
  <dcterms:created xsi:type="dcterms:W3CDTF">2025-03-19T06:12:05Z</dcterms:created>
  <dcterms:modified xsi:type="dcterms:W3CDTF">2025-11-03T04:46:43Z</dcterms:modified>
</cp:coreProperties>
</file>